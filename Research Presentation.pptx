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p:regular r:id="rId39"/>
      <p:bold r:id="rId40"/>
      <p:italic r:id="rId41"/>
      <p:boldItalic r:id="rId42"/>
    </p:embeddedFont>
    <p:embeddedFont>
      <p:font typeface="Poppins"/>
      <p:regular r:id="rId43"/>
      <p:bold r:id="rId44"/>
      <p:italic r:id="rId45"/>
      <p:boldItalic r:id="rId46"/>
    </p:embeddedFont>
    <p:embeddedFont>
      <p:font typeface="Urbanist Medium"/>
      <p:regular r:id="rId47"/>
      <p:bold r:id="rId48"/>
      <p:italic r:id="rId49"/>
      <p:boldItalic r:id="rId50"/>
    </p:embeddedFont>
    <p:embeddedFont>
      <p:font typeface="Urbanist"/>
      <p:regular r:id="rId51"/>
      <p:bold r:id="rId52"/>
      <p:italic r:id="rId53"/>
      <p:boldItalic r:id="rId54"/>
    </p:embeddedFont>
    <p:embeddedFont>
      <p:font typeface="Poppins SemiBold"/>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42" Type="http://schemas.openxmlformats.org/officeDocument/2006/relationships/font" Target="fonts/Roboto-boldItalic.fntdata"/><Relationship Id="rId41" Type="http://schemas.openxmlformats.org/officeDocument/2006/relationships/font" Target="fonts/Roboto-italic.fntdata"/><Relationship Id="rId44" Type="http://schemas.openxmlformats.org/officeDocument/2006/relationships/font" Target="fonts/Poppins-bold.fntdata"/><Relationship Id="rId43" Type="http://schemas.openxmlformats.org/officeDocument/2006/relationships/font" Target="fonts/Poppins-regular.fntdata"/><Relationship Id="rId46" Type="http://schemas.openxmlformats.org/officeDocument/2006/relationships/font" Target="fonts/Poppins-boldItalic.fntdata"/><Relationship Id="rId45"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rbanistMedium-bold.fntdata"/><Relationship Id="rId47" Type="http://schemas.openxmlformats.org/officeDocument/2006/relationships/font" Target="fonts/UrbanistMedium-regular.fntdata"/><Relationship Id="rId49" Type="http://schemas.openxmlformats.org/officeDocument/2006/relationships/font" Target="fonts/Urbanis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oboto-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Urbanist-regular.fntdata"/><Relationship Id="rId50" Type="http://schemas.openxmlformats.org/officeDocument/2006/relationships/font" Target="fonts/UrbanistMedium-boldItalic.fntdata"/><Relationship Id="rId53" Type="http://schemas.openxmlformats.org/officeDocument/2006/relationships/font" Target="fonts/Urbanist-italic.fntdata"/><Relationship Id="rId52" Type="http://schemas.openxmlformats.org/officeDocument/2006/relationships/font" Target="fonts/Urbanist-bold.fntdata"/><Relationship Id="rId11" Type="http://schemas.openxmlformats.org/officeDocument/2006/relationships/slide" Target="slides/slide6.xml"/><Relationship Id="rId55" Type="http://schemas.openxmlformats.org/officeDocument/2006/relationships/font" Target="fonts/PoppinsSemiBold-regular.fntdata"/><Relationship Id="rId10" Type="http://schemas.openxmlformats.org/officeDocument/2006/relationships/slide" Target="slides/slide5.xml"/><Relationship Id="rId54" Type="http://schemas.openxmlformats.org/officeDocument/2006/relationships/font" Target="fonts/Urbanist-boldItalic.fntdata"/><Relationship Id="rId13" Type="http://schemas.openxmlformats.org/officeDocument/2006/relationships/slide" Target="slides/slide8.xml"/><Relationship Id="rId57" Type="http://schemas.openxmlformats.org/officeDocument/2006/relationships/font" Target="fonts/PoppinsSemiBold-italic.fntdata"/><Relationship Id="rId12" Type="http://schemas.openxmlformats.org/officeDocument/2006/relationships/slide" Target="slides/slide7.xml"/><Relationship Id="rId56" Type="http://schemas.openxmlformats.org/officeDocument/2006/relationships/font" Target="fonts/PoppinsSemiBold-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PoppinsSemi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d7c94b29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d4d7c94b29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4d7c94b2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d4d7c94b2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t</a:t>
            </a:r>
            <a:r>
              <a:rPr lang="en" sz="1800">
                <a:solidFill>
                  <a:schemeClr val="dk1"/>
                </a:solidFill>
              </a:rPr>
              <a:t>his process of determining which allele is ancestral and which is derived is called “polarization”</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Results as in, what does the deleterious burden look like? Is it higher in the domesticated population? The wild type? Usually, the domesticated has higher deleterious load</a:t>
            </a:r>
            <a:r>
              <a:rPr lang="en" sz="1800">
                <a:solidFill>
                  <a:schemeClr val="dk1"/>
                </a:solidFill>
              </a:rPr>
              <a:t> than wild populations because population bottlenecks and small population sizes reduce the efficiency of purifying selection, allowing harmful mutations to persist. This idea is called “the domestication-cost hypothesis”</a:t>
            </a:r>
            <a:endParaRPr sz="18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d4d7c94b29_0_1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d4d7c94b29_0_1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This graph is from the Lozano paper, which was part of the summer 2025 project. It shows the deleterious burden calculated in improved aka domesticated sorghum, the traditional landrace variety, and the wild type.</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They found that the deleterious burden was higher in the wild type, which deviates from the aforementioned domestication-cost hypothesis where the domesticated/improved population should have higher deleterious load. So basically what i did was try to replicate their results.</a:t>
            </a:r>
            <a:endParaRPr sz="17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d4d7c94b2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d4d7c94b2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First just tried doing it the easy but effective way, which was to use the outgroup allele as the ancestral allele, and see if could replicate the lozano results that way</a:t>
            </a:r>
            <a:endParaRPr sz="1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d4d7c94b2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d4d7c94b2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These are my results from the summer 2025 project. Essentially the workflow was to t</a:t>
            </a:r>
            <a:r>
              <a:rPr lang="en" sz="1300">
                <a:solidFill>
                  <a:schemeClr val="dk1"/>
                </a:solidFill>
              </a:rPr>
              <a:t>ake the filtered vcf file and run SIFT to find which SNPs are deleterious. </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SIFT is a computational tool, stands for Sorting Intolerant from Tolerant and it basically </a:t>
            </a:r>
            <a:r>
              <a:rPr lang="en" sz="1300">
                <a:solidFill>
                  <a:schemeClr val="dk1"/>
                </a:solidFill>
              </a:rPr>
              <a:t>predicts whether amino acid substitutions are deleterious, assigning scores where values below 0.05 indicate likely functional impact</a:t>
            </a:r>
            <a:r>
              <a:rPr lang="en" sz="1300">
                <a:solidFill>
                  <a:schemeClr val="dk1"/>
                </a:solidFill>
              </a:rPr>
              <a:t>. it also flags the variants as “low confidence” when supporting sequence data is limited. </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So basically i took the vcf with the SIFT scores and calculated the deleterious load under </a:t>
            </a:r>
            <a:r>
              <a:rPr lang="en" sz="1300">
                <a:solidFill>
                  <a:schemeClr val="dk1"/>
                </a:solidFill>
              </a:rPr>
              <a:t>4 different models (dominant, additive, recessive, and normalized additive) treating whatever allele the outgroup (S. propinquum) had as the ancestral allele. </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Found higher del load in domesticated shown in red in the graph, which is not what the paper found. Even tried doing the calcs excluding those low confidence deleterious sites and got same thing: higher del load in the domesticated. So went back and did everything exactly the way its described in the paper</a:t>
            </a:r>
            <a:endParaRPr sz="13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Model explanations just in case: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Dominant model:</a:t>
            </a:r>
            <a:r>
              <a:rPr lang="en">
                <a:solidFill>
                  <a:schemeClr val="dk1"/>
                </a:solidFill>
              </a:rPr>
              <a:t> Counts the number of deleterious sites where an individual carries </a:t>
            </a:r>
            <a:r>
              <a:rPr b="1" lang="en">
                <a:solidFill>
                  <a:schemeClr val="dk1"/>
                </a:solidFill>
              </a:rPr>
              <a:t>at least one derived deleterious allele</a:t>
            </a:r>
            <a:r>
              <a:rPr lang="en">
                <a:solidFill>
                  <a:schemeClr val="dk1"/>
                </a:solidFill>
              </a:rPr>
              <a:t> (heterozygous or homozygous).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Recessive model:</a:t>
            </a:r>
            <a:r>
              <a:rPr lang="en">
                <a:solidFill>
                  <a:schemeClr val="dk1"/>
                </a:solidFill>
              </a:rPr>
              <a:t> Counts the number of deleterious sites where an individual is </a:t>
            </a:r>
            <a:r>
              <a:rPr b="1" lang="en">
                <a:solidFill>
                  <a:schemeClr val="dk1"/>
                </a:solidFill>
              </a:rPr>
              <a:t>homozygous for the derived deleterious allele</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Additive model:</a:t>
            </a:r>
            <a:r>
              <a:rPr lang="en">
                <a:solidFill>
                  <a:schemeClr val="dk1"/>
                </a:solidFill>
              </a:rPr>
              <a:t> Counts the total number of derived deleterious alleles, assigning </a:t>
            </a:r>
            <a:r>
              <a:rPr b="1" lang="en">
                <a:solidFill>
                  <a:schemeClr val="dk1"/>
                </a:solidFill>
              </a:rPr>
              <a:t>1 for heterozygous</a:t>
            </a:r>
            <a:r>
              <a:rPr lang="en">
                <a:solidFill>
                  <a:schemeClr val="dk1"/>
                </a:solidFill>
              </a:rPr>
              <a:t> and </a:t>
            </a:r>
            <a:r>
              <a:rPr b="1" lang="en">
                <a:solidFill>
                  <a:schemeClr val="dk1"/>
                </a:solidFill>
              </a:rPr>
              <a:t>2 for homozygous derived</a:t>
            </a:r>
            <a:r>
              <a:rPr lang="en">
                <a:solidFill>
                  <a:schemeClr val="dk1"/>
                </a:solidFill>
              </a:rPr>
              <a:t> genotypes.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Normalized additive model:</a:t>
            </a:r>
            <a:r>
              <a:rPr lang="en">
                <a:solidFill>
                  <a:schemeClr val="dk1"/>
                </a:solidFill>
              </a:rPr>
              <a:t> The additive count </a:t>
            </a:r>
            <a:r>
              <a:rPr b="1" lang="en">
                <a:solidFill>
                  <a:schemeClr val="dk1"/>
                </a:solidFill>
              </a:rPr>
              <a:t>scaled by the number of non-missing deleterious sites</a:t>
            </a:r>
            <a:r>
              <a:rPr lang="en">
                <a:solidFill>
                  <a:schemeClr val="dk1"/>
                </a:solidFill>
              </a:rPr>
              <a:t> for that individual.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595959"/>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d4d7c94b29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d4d7c94b29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So now we have moved on from doing it the simple yet effective way, and we are entering the world of Lozano</a:t>
            </a:r>
            <a:endParaRPr sz="1800"/>
          </a:p>
          <a:p>
            <a:pPr indent="-342900" lvl="0" marL="457200" rtl="0" algn="l">
              <a:spcBef>
                <a:spcPts val="0"/>
              </a:spcBef>
              <a:spcAft>
                <a:spcPts val="0"/>
              </a:spcAft>
              <a:buSzPts val="1800"/>
              <a:buChar char="-"/>
            </a:pPr>
            <a:r>
              <a:rPr lang="en" sz="1800"/>
              <a:t>Place bets now! If i follow their methodology exactly, can i replicate </a:t>
            </a:r>
            <a:r>
              <a:rPr lang="en" sz="1800"/>
              <a:t>their results?</a:t>
            </a:r>
            <a:endParaRPr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d4d7c94b2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d4d7c94b2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Here we are: the Lozano paper pipeline</a:t>
            </a:r>
            <a:endParaRPr sz="1700"/>
          </a:p>
          <a:p>
            <a:pPr indent="-336550" lvl="0" marL="457200" rtl="0" algn="l">
              <a:spcBef>
                <a:spcPts val="0"/>
              </a:spcBef>
              <a:spcAft>
                <a:spcPts val="0"/>
              </a:spcAft>
              <a:buSzPts val="1700"/>
              <a:buChar char="-"/>
            </a:pPr>
            <a:r>
              <a:rPr lang="en" sz="1700"/>
              <a:t>General overview–the main event is step 5. All the preceding steps are just required to get to the starting line that allows you to open the door, that then enables you to begin creating the input file that goes into that software. I will go thru each step shortly</a:t>
            </a:r>
            <a:endParaRPr sz="17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d4d7c94b29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d4d7c94b29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Just want to take a moment to appreciate how unassuming the pipeline looks. The idea seems simple: just trying to determine which allele is ancestral using a focal species and outgroup species.</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But the idea is complicated by all the different file formats, for example some being at the protein level and others being at the nucleotide level, as well as all the steps you have to take in between. And then you have to factor in the magnitude of working with thousands of files at the same time so it can be pretty daunting.</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Nonetheless, we push onward! Or as the kids say, ‘we ball.”</a:t>
            </a:r>
            <a:endParaRPr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d4d7c94b29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d4d7c94b29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Before</a:t>
            </a:r>
            <a:r>
              <a:rPr lang="en" sz="1600"/>
              <a:t> doing anything, we must define our focal species and our outgroup species.</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I followed the paper’s methodology, which uses sorghum bicolor as the focal species, and for the outgroups they (and subsequently i) used setaria italica and maize which are also grass species like sorghum bicolor</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For the focal species, you need its proteome and its reference genome, its gff3 file (which is, in short, a detailed annotation file that has all the exon coordinates, which strand the exon is on, some other features), and you also need the vcf file (the one we ran through SIFT that annotates which variants are deleterious)</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For the outgroups, we just need their proteomes and their reference genomes</a:t>
            </a:r>
            <a:endParaRPr sz="16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d4d7c94b29_0_1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d4d7c94b29_0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For protein fastas, ensure that the terminal codon ‘*’ is REMOVED</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In protein and cds fastas, make sure that for each gene, the sequence names match!!!!!! Headers must match!!!! Headers!!! Must!!! Match!!!!!</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So for example, the maize protein headers have the this ‘P’ suffix attached to the gene ID, and the maize cds headers have this ‘T’ suffix attached to the gene ID</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And nobody mentions any of this, u just have to figure it out even tho its C R I T I C A L to the success of literally the entire pipeline</a:t>
            </a:r>
            <a:endParaRPr sz="17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d4d7c94b29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d4d7c94b29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Input the proteomes of these species into orthofinder to find their orthologues, which are genes that have been separated via speciation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Using the orthofinder output, for each orthogroup, make a protein fasta file containing the genes from the orthogroup. End result is a folder containing a protein fasta for each orthogroup, with each file including 3 sequences.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Do the same with the nucleotide sequences.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Take note of the order of the sequences!!! Sequence order must be the same in every fasta across every both folders→ every single cds and protein fasta has to have the 3 species formatted in exactly the same order. I chose: sorghum, maize, setaria</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So every single file in both folders has the sorghum sequence first, then the maize sequence, then the setaria sequence</a:t>
            </a:r>
            <a:endParaRPr sz="1500"/>
          </a:p>
          <a:p>
            <a:pPr indent="-323850" lvl="1" marL="914400" rtl="0" algn="l">
              <a:spcBef>
                <a:spcPts val="0"/>
              </a:spcBef>
              <a:spcAft>
                <a:spcPts val="0"/>
              </a:spcAft>
              <a:buSzPts val="1500"/>
              <a:buChar char="-"/>
            </a:pPr>
            <a:r>
              <a:rPr lang="en" sz="1500"/>
              <a:t>And the headers for each sequence match across both folders and the protein sequences have the asterisk (the terminal codon) removed</a:t>
            </a:r>
            <a:endParaRPr sz="15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d4d7c94b29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d4d7c94b29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Next, we go through each protein orthogroup FASTA and align each file with Clustal Omega</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The result is a new folder with the aligned protein orthogroup FASTAs</a:t>
            </a:r>
            <a:endParaRPr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d4d7c94b29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d4d7c94b29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Uses the aligned protein fasta to align the nucleotides </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made a script that loops thru each fasta set (1 aligned protein fasta its corresponding cds fasta) and runs tranalign so i could get the output, which is a folder full of now aligned cds fastas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d4d7c94b29_0_1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d4d7c94b29_0_1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lang="en" sz="1700">
                <a:solidFill>
                  <a:schemeClr val="dk1"/>
                </a:solidFill>
              </a:rPr>
              <a:t>So to reiterate, tranalign takes this plus this and makes this</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But you cant just input the whole folder, it only accepts files.</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1 aligned protein FASTA and 1 unaligned CDS FASTA for the same gene</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So i had to make a script that looped through the orthogroups in these folders and ran TranAlign 1 orthogroup at a time</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Then i got the resulting aligned CDS orthogroup FASTAs</a:t>
            </a:r>
            <a:endParaRPr sz="17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d4d7c94b29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d4d7c94b29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Now we arrive at step 4, which is the most intensive step in the entire pipeline, and has been elegantly described in this flowchart via my prompts and ChatGPT</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Goal: using the nucleotide alignment positions obtained from the tranalign output and the gff3 file of the focal species, map the nucleotide alignment positions to their genomic positions in the gff3 file; so we only do this for sorghum bicolor, our focal species</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So what we need in order to accomplish this is the sorghum bicolor gff3 file, that annotation file that details the exon coordinates among other things, and the TranAlign output, which is our folder filled with aligned CDS FASTAs</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We begin with the gff3 file, which the graphic has a little toy of example here, and extract the exons so we can get their start and end positions.</a:t>
            </a:r>
            <a:endParaRPr sz="1400"/>
          </a:p>
          <a:p>
            <a:pPr indent="-317500" lvl="0" marL="457200" rtl="0" algn="l">
              <a:spcBef>
                <a:spcPts val="0"/>
              </a:spcBef>
              <a:spcAft>
                <a:spcPts val="0"/>
              </a:spcAft>
              <a:buSzPts val="1400"/>
              <a:buChar char="-"/>
            </a:pPr>
            <a:r>
              <a:rPr lang="en" sz="1400"/>
              <a:t>Note how we skip the introns because theres no coding sequence there, and we only care about the coding sequences</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Next, we sort the exons and build a list of continuous of coding genomic positions</a:t>
            </a:r>
            <a:endParaRPr sz="1400"/>
          </a:p>
          <a:p>
            <a:pPr indent="-317500" lvl="1" marL="914400" rtl="0" algn="l">
              <a:spcBef>
                <a:spcPts val="0"/>
              </a:spcBef>
              <a:spcAft>
                <a:spcPts val="0"/>
              </a:spcAft>
              <a:buSzPts val="1400"/>
              <a:buChar char="-"/>
            </a:pPr>
            <a:r>
              <a:rPr lang="en" sz="1400"/>
              <a:t>Again, note how the numbers skip a bit because we skipped the introns. So positions 200-299 would be an intron and consequently will be skipped</a:t>
            </a:r>
            <a:endParaRPr sz="1400"/>
          </a:p>
          <a:p>
            <a:pPr indent="0" lvl="0" marL="9144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Next, we remove the last 3 bases because the gff3 file includes the stop codon but the aligned CDS FASTAs do not have the stop codon.</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Then, we map each non-gap base to its genomic position and corresponding exon. We cant map the gaps because they have no genomic position, they are just part of the nucleotide alignment between the sorghum sequence and its maize and setaria orthologs</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Go thru </a:t>
            </a:r>
            <a:r>
              <a:rPr lang="en" sz="1400"/>
              <a:t>first</a:t>
            </a:r>
            <a:r>
              <a:rPr lang="en" sz="1400"/>
              <a:t> few bases mapping</a:t>
            </a:r>
            <a:endParaRPr sz="1400"/>
          </a:p>
          <a:p>
            <a:pPr indent="-317500" lvl="0" marL="457200" rtl="0" algn="l">
              <a:spcBef>
                <a:spcPts val="0"/>
              </a:spcBef>
              <a:spcAft>
                <a:spcPts val="0"/>
              </a:spcAft>
              <a:buSzPts val="1400"/>
              <a:buChar char="-"/>
            </a:pPr>
            <a:r>
              <a:rPr lang="en" sz="1400"/>
              <a:t>And then the outputs from this process are the actual mapping files for each sorghum bicolor gene in every orthogroup from the tranalign output that translate the alignment positions to their actual position in the genome, as well as a corresponding exon summary file that annotates how many exons the gene has, which strand its on, and the start and end positions of the exon</a:t>
            </a:r>
            <a:endParaRPr sz="14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d4d7c94b29_0_1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d4d7c94b29_0_1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No more toy data; this is an actual exon summary file and the beginning and end of a mapping file for a sorghum bicolor gene on the plus strand</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Since it is on the plus strand, we start at the starting position and as we perform the mapping process, the genomic position numbers should increase</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Clr>
                <a:schemeClr val="dk1"/>
              </a:buClr>
              <a:buSzPts val="1400"/>
              <a:buChar char="-"/>
            </a:pPr>
            <a:r>
              <a:rPr lang="en" sz="1400">
                <a:solidFill>
                  <a:schemeClr val="dk1"/>
                </a:solidFill>
              </a:rPr>
              <a:t>Also, the exon summary was made using the exact data from the gff3 annotation file, which includes the stop codon. </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since we subtract the last 3 bases in our script to account for the stop codon not being in the CDS sequences, our mapping file should have exactly 3 base pairs less than what the gff3 file has</a:t>
            </a:r>
            <a:endParaRPr sz="1400">
              <a:solidFill>
                <a:schemeClr val="dk1"/>
              </a:solidFill>
            </a:endParaRPr>
          </a:p>
          <a:p>
            <a:pPr indent="0" lvl="0" marL="914400" rtl="0" algn="l">
              <a:spcBef>
                <a:spcPts val="0"/>
              </a:spcBef>
              <a:spcAft>
                <a:spcPts val="0"/>
              </a:spcAft>
              <a:buNone/>
            </a:pPr>
            <a:r>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So looking at the first few lines of the mapping file for this sorghum bicolor gene, we can see the base, the nucleotide alignment position that always increases because it just follows regular counting whether there’s a gap or not, we have the genomic position that increases because this gene is on the plus strand, and then we have a final column that tells us which exon the base belongs to</a:t>
            </a:r>
            <a:endParaRPr sz="1400">
              <a:solidFill>
                <a:schemeClr val="dk1"/>
              </a:solidFill>
            </a:endParaRPr>
          </a:p>
          <a:p>
            <a:pPr indent="0" lvl="0" marL="457200" rtl="0" algn="l">
              <a:spcBef>
                <a:spcPts val="0"/>
              </a:spcBef>
              <a:spcAft>
                <a:spcPts val="0"/>
              </a:spcAft>
              <a:buNone/>
            </a:pPr>
            <a:r>
              <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Looking at the last few lines of the mapping file, we can see the sequence ends at genomic position 5,361,742, which is 3 bp less than the gff3 because our CDS sequences have no stop codon and the gff3 file does, which is the desired outcome</a:t>
            </a:r>
            <a:endParaRPr sz="14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d4d7c94b29_0_1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d4d7c94b29_0_1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As i mentioned before, t</a:t>
            </a:r>
            <a:r>
              <a:rPr lang="en" sz="1500">
                <a:solidFill>
                  <a:schemeClr val="dk1"/>
                </a:solidFill>
              </a:rPr>
              <a:t>he introns are skipped. So any genomic position that is not in this continuous list of exons should not show up in the mapping file.</a:t>
            </a:r>
            <a:endParaRPr sz="1500">
              <a:solidFill>
                <a:schemeClr val="dk1"/>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So for example, the first exon ends at position 5,360,638. There should be no 639 or 640 all the way up to 779 because the next exon begins at 5,360,780</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*Pinpoint where jumps happen on exon summary file (zig-zag)</a:t>
            </a:r>
            <a:endParaRPr sz="1500">
              <a:solidFill>
                <a:schemeClr val="dk1"/>
              </a:solidFill>
            </a:endParaRPr>
          </a:p>
          <a:p>
            <a:pPr indent="0" lvl="0" marL="9144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And we can see that happening in the mapping file, which conveniently annotates which exon the base of interest belongs to</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This is also a good example of how as we go down the nucleotide alignment, even if there are gaps, the alignment position increases but the genomic position does not change because the gaps dont exist in the actual genome</a:t>
            </a:r>
            <a:endParaRPr sz="15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d4d7c94b29_0_1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d4d7c94b29_0_1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This is an example of an exon summary and mapping file for a gene on the minus strand. So since its on the minus strand our mapping file should actually begin at the end position of the exon and count down towards the start</a:t>
            </a:r>
            <a:endParaRPr sz="1700"/>
          </a:p>
          <a:p>
            <a:pPr indent="-336550" lvl="1" marL="914400" rtl="0" algn="l">
              <a:spcBef>
                <a:spcPts val="0"/>
              </a:spcBef>
              <a:spcAft>
                <a:spcPts val="0"/>
              </a:spcAft>
              <a:buSzPts val="1700"/>
              <a:buChar char="-"/>
            </a:pPr>
            <a:r>
              <a:rPr lang="en" sz="1700"/>
              <a:t>We can see in the mapping file, it follows this trend</a:t>
            </a:r>
            <a:endParaRPr sz="1700"/>
          </a:p>
          <a:p>
            <a:pPr indent="0" lvl="0" marL="9144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And since we are on the minus strand and we are basically </a:t>
            </a:r>
            <a:r>
              <a:rPr lang="en" sz="1700"/>
              <a:t>counting</a:t>
            </a:r>
            <a:r>
              <a:rPr lang="en" sz="1700"/>
              <a:t> backwards, our final genomic position should be 3bp ‘more’ than our gff3 file because its basically the opposite of what the plus strand would look like to account for that stop codon</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So here the genomic position in the gff3 file ends at 61,351,002, so our mapping file </a:t>
            </a:r>
            <a:r>
              <a:rPr lang="en" sz="1700"/>
              <a:t>should</a:t>
            </a:r>
            <a:r>
              <a:rPr lang="en" sz="1700"/>
              <a:t> end with genomic position </a:t>
            </a:r>
            <a:r>
              <a:rPr lang="en" sz="1700">
                <a:solidFill>
                  <a:schemeClr val="dk1"/>
                </a:solidFill>
              </a:rPr>
              <a:t>61,351,005, which it does so that means we are doing well</a:t>
            </a:r>
            <a:endParaRPr sz="17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d4d7c94b29_0_1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d4d7c94b29_0_1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Same as with the plus strand, the introns are skipped but since we are on the minus strand when you look at the jumping scheme its more of a zag-zig instead of a zig-zag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Logic is still the same and its shown again in the mapping file where we go from the last genomic position in the first exon and skip all the positions in between (which would be the intron) and go right into the second exon</a:t>
            </a:r>
            <a:endParaRPr sz="1800"/>
          </a:p>
          <a:p>
            <a:pPr indent="-342900" lvl="1" marL="914400" rtl="0" algn="l">
              <a:spcBef>
                <a:spcPts val="0"/>
              </a:spcBef>
              <a:spcAft>
                <a:spcPts val="0"/>
              </a:spcAft>
              <a:buSzPts val="1800"/>
              <a:buChar char="-"/>
            </a:pPr>
            <a:r>
              <a:rPr lang="en" sz="1800"/>
              <a:t>Same pattern when going from the 2nd exon to the 3rd</a:t>
            </a:r>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d4d7c94b29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d4d7c94b29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Char char="-"/>
            </a:pPr>
            <a:r>
              <a:rPr lang="en" sz="2000">
                <a:solidFill>
                  <a:schemeClr val="dk1"/>
                </a:solidFill>
              </a:rPr>
              <a:t>We did all that…to make it to this moment: the est-sfs software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est-sfs is a program that estimates the unfolded site frequency spectrum (SFS) for a set of sequences and, in the process, infers the ancestral allele at each polymorphic site using allele frequencies and outgroup information. It provides a probability score for each ancestral state and flags low-confidence sites.</a:t>
            </a:r>
            <a:endParaRPr sz="20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d4d7c94b29_0_1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d4d7c94b29_0_1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This input file tells the program how many outgroups you’re using, the nucleotide substitution model to be implemented (you can choose from jukes-cantor, kimura 2-parameter, and the all rates different/rate-6 model), and then n</a:t>
            </a:r>
            <a:r>
              <a:rPr lang="en" sz="1600"/>
              <a:t>random</a:t>
            </a:r>
            <a:r>
              <a:rPr lang="en" sz="1600"/>
              <a:t> which is just a number thats 0 or a positive integer that the likelihood search algorithm starts out using</a:t>
            </a:r>
            <a:endParaRPr sz="16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d4d7c94b29_0_1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d4d7c94b29_0_1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The seed file is just a positive integer. So literally just a text file with nothing else except for a single positive integer.</a:t>
            </a:r>
            <a:endParaRPr sz="17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d4d7c94b29_0_1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d4d7c94b29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This is the file we did all that prior work to create. So basically what we need is a file that has a bunch of rows that look like this</a:t>
            </a:r>
            <a:endParaRPr sz="1600"/>
          </a:p>
          <a:p>
            <a:pPr indent="-330200" lvl="0" marL="457200" rtl="0" algn="l">
              <a:spcBef>
                <a:spcPts val="0"/>
              </a:spcBef>
              <a:spcAft>
                <a:spcPts val="0"/>
              </a:spcAft>
              <a:buSzPts val="1600"/>
              <a:buChar char="-"/>
            </a:pPr>
            <a:r>
              <a:rPr lang="en" sz="1600"/>
              <a:t>Each row represents a variant or a site in the vcf.</a:t>
            </a:r>
            <a:endParaRPr sz="1600"/>
          </a:p>
          <a:p>
            <a:pPr indent="-330200" lvl="0" marL="457200" rtl="0" algn="l">
              <a:spcBef>
                <a:spcPts val="0"/>
              </a:spcBef>
              <a:spcAft>
                <a:spcPts val="0"/>
              </a:spcAft>
              <a:buSzPts val="1600"/>
              <a:buChar char="-"/>
            </a:pPr>
            <a:r>
              <a:rPr lang="en" sz="1600"/>
              <a:t>The first column represents the focal species, and the other columns represent the outgroup species. In our current case we would have 2 outgroup columns instead of 3 since we used 2 outgroups.</a:t>
            </a:r>
            <a:endParaRPr sz="1600"/>
          </a:p>
          <a:p>
            <a:pPr indent="-330200" lvl="0" marL="457200" rtl="0" algn="l">
              <a:spcBef>
                <a:spcPts val="0"/>
              </a:spcBef>
              <a:spcAft>
                <a:spcPts val="0"/>
              </a:spcAft>
              <a:buSzPts val="1600"/>
              <a:buChar char="-"/>
            </a:pPr>
            <a:r>
              <a:rPr lang="en" sz="1600"/>
              <a:t>The columns hold a comma separating list of 4 numbers representing allele counts for the samples in the vcf file for that variant in the order of A, C, G, T. </a:t>
            </a:r>
            <a:endParaRPr sz="1600"/>
          </a:p>
          <a:p>
            <a:pPr indent="-330200" lvl="0" marL="457200" rtl="0" algn="l">
              <a:spcBef>
                <a:spcPts val="0"/>
              </a:spcBef>
              <a:spcAft>
                <a:spcPts val="0"/>
              </a:spcAft>
              <a:buSzPts val="1600"/>
              <a:buChar char="-"/>
            </a:pPr>
            <a:r>
              <a:rPr lang="en" sz="1600"/>
              <a:t>So here at this site, they counted 20 ‘A’ alleles in the focal species, so there’s a 20 and a 0 for everything else. The outgroup columns all have a ‘1’ at the last position, with represents the ‘T’ allele. So all the outgroup species have the ‘T’ allele at that position.</a:t>
            </a:r>
            <a:endParaRPr sz="1600"/>
          </a:p>
          <a:p>
            <a:pPr indent="-330200" lvl="0" marL="457200" rtl="0" algn="l">
              <a:spcBef>
                <a:spcPts val="0"/>
              </a:spcBef>
              <a:spcAft>
                <a:spcPts val="0"/>
              </a:spcAft>
              <a:buSzPts val="1600"/>
              <a:buChar char="-"/>
            </a:pPr>
            <a:r>
              <a:rPr lang="en" sz="1600"/>
              <a:t>If there are missing data in an outgroup, then the default is all zeros. I will explain how that can happen shortly.</a:t>
            </a:r>
            <a:endParaRPr sz="16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d4d7c94b29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d4d7c94b29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How do we make that file? This lovely AI-&amp;-I generated graphic will walk us through how to get this done</a:t>
            </a:r>
            <a:endParaRPr sz="1500"/>
          </a:p>
          <a:p>
            <a:pPr indent="-323850" lvl="0" marL="457200" rtl="0" algn="l">
              <a:spcBef>
                <a:spcPts val="0"/>
              </a:spcBef>
              <a:spcAft>
                <a:spcPts val="0"/>
              </a:spcAft>
              <a:buSzPts val="1500"/>
              <a:buChar char="-"/>
            </a:pPr>
            <a:r>
              <a:rPr lang="en" sz="1500"/>
              <a:t>So the files we need are the sorghum bicolor vcf that we ran SIFT on, the gene mapping files we just went through hell to create, and the nucleotide orthogroup alignments from the TranAlign step</a:t>
            </a:r>
            <a:endParaRPr sz="1500"/>
          </a:p>
          <a:p>
            <a:pPr indent="-323850" lvl="0" marL="457200" rtl="0" algn="l">
              <a:spcBef>
                <a:spcPts val="0"/>
              </a:spcBef>
              <a:spcAft>
                <a:spcPts val="0"/>
              </a:spcAft>
              <a:buSzPts val="1500"/>
              <a:buChar char="-"/>
            </a:pPr>
            <a:r>
              <a:rPr lang="en" sz="1500"/>
              <a:t>First, we go thru the vcf and if we do NOT have a mapping file for that site then we skip it</a:t>
            </a:r>
            <a:endParaRPr sz="1500"/>
          </a:p>
          <a:p>
            <a:pPr indent="-323850" lvl="1" marL="914400" rtl="0" algn="l">
              <a:spcBef>
                <a:spcPts val="0"/>
              </a:spcBef>
              <a:spcAft>
                <a:spcPts val="0"/>
              </a:spcAft>
              <a:buSzPts val="1500"/>
              <a:buChar char="-"/>
            </a:pPr>
            <a:r>
              <a:rPr lang="en" sz="1500"/>
              <a:t>If we do have a mapping file for it, then record the necessary metadata and do allele counts on allll the samples (50 samples)</a:t>
            </a:r>
            <a:endParaRPr sz="1500"/>
          </a:p>
          <a:p>
            <a:pPr indent="0" lvl="0" marL="914400" rtl="0" algn="l">
              <a:spcBef>
                <a:spcPts val="0"/>
              </a:spcBef>
              <a:spcAft>
                <a:spcPts val="0"/>
              </a:spcAft>
              <a:buNone/>
            </a:pPr>
            <a:r>
              <a:t/>
            </a:r>
            <a:endParaRPr sz="1500"/>
          </a:p>
          <a:p>
            <a:pPr indent="-323850" lvl="1" marL="914400" rtl="0" algn="l">
              <a:spcBef>
                <a:spcPts val="0"/>
              </a:spcBef>
              <a:spcAft>
                <a:spcPts val="0"/>
              </a:spcAft>
              <a:buSzPts val="1500"/>
              <a:buChar char="-"/>
            </a:pPr>
            <a:r>
              <a:rPr lang="en" sz="1500"/>
              <a:t>So if the genotype is homozygous for the ref allele, we add 2 to the sorghum counts comma separated list corresponding to that allele because remember the positions in the list have meaning (A,C,G,T)</a:t>
            </a:r>
            <a:endParaRPr sz="1500"/>
          </a:p>
          <a:p>
            <a:pPr indent="-323850" lvl="1" marL="914400" rtl="0" algn="l">
              <a:spcBef>
                <a:spcPts val="0"/>
              </a:spcBef>
              <a:spcAft>
                <a:spcPts val="0"/>
              </a:spcAft>
              <a:buSzPts val="1500"/>
              <a:buChar char="-"/>
            </a:pPr>
            <a:r>
              <a:rPr lang="en" sz="1500"/>
              <a:t>If the genotype is heterozygous, we add 1 to the ref allele and 1 to the alt allele</a:t>
            </a:r>
            <a:endParaRPr sz="1500"/>
          </a:p>
          <a:p>
            <a:pPr indent="-323850" lvl="1" marL="914400" rtl="0" algn="l">
              <a:spcBef>
                <a:spcPts val="0"/>
              </a:spcBef>
              <a:spcAft>
                <a:spcPts val="0"/>
              </a:spcAft>
              <a:buSzPts val="1500"/>
              <a:buChar char="-"/>
            </a:pPr>
            <a:r>
              <a:rPr lang="en" sz="1500"/>
              <a:t>If the genotype is homozygous for the alt allele, we add a count of 2 to the alt allele</a:t>
            </a:r>
            <a:endParaRPr sz="1500"/>
          </a:p>
          <a:p>
            <a:pPr indent="-323850" lvl="1" marL="914400" rtl="0" algn="l">
              <a:spcBef>
                <a:spcPts val="0"/>
              </a:spcBef>
              <a:spcAft>
                <a:spcPts val="0"/>
              </a:spcAft>
              <a:buSzPts val="1500"/>
              <a:buChar char="-"/>
            </a:pPr>
            <a:r>
              <a:rPr lang="en" sz="1500"/>
              <a:t>So looking at the first row in the toy vcf, assuming we have a mapping file for it, the ref allele is A and the alt allele is G</a:t>
            </a:r>
            <a:endParaRPr sz="1500"/>
          </a:p>
          <a:p>
            <a:pPr indent="-323850" lvl="1" marL="914400" rtl="0" algn="l">
              <a:spcBef>
                <a:spcPts val="0"/>
              </a:spcBef>
              <a:spcAft>
                <a:spcPts val="0"/>
              </a:spcAft>
              <a:buSzPts val="1500"/>
              <a:buChar char="-"/>
            </a:pPr>
            <a:r>
              <a:rPr lang="en" sz="1500"/>
              <a:t>After parsing the genotypes of every sample, we count 12 of the ref alleles which is A so we put a 12 in the A position. And we count 8 of the alt alleles so we put an 8 in the G position of the comma separated list</a:t>
            </a:r>
            <a:endParaRPr sz="1500"/>
          </a:p>
          <a:p>
            <a:pPr indent="0" lvl="0" marL="9144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Next, after taking note of the genomic position of the variant, we go to the mapping file for the gene the variant is in and we find the genomic position we saved from the vcf</a:t>
            </a:r>
            <a:endParaRPr sz="1500"/>
          </a:p>
          <a:p>
            <a:pPr indent="-323850" lvl="1" marL="914400" rtl="0" algn="l">
              <a:spcBef>
                <a:spcPts val="0"/>
              </a:spcBef>
              <a:spcAft>
                <a:spcPts val="0"/>
              </a:spcAft>
              <a:buSzPts val="1500"/>
              <a:buChar char="-"/>
            </a:pPr>
            <a:r>
              <a:rPr lang="en" sz="1500"/>
              <a:t>So in this case the variant is at genomic position 12345, so we find that genomic position in our mapping file and obtain that genomic </a:t>
            </a:r>
            <a:r>
              <a:rPr lang="en" sz="1500"/>
              <a:t>positions</a:t>
            </a:r>
            <a:r>
              <a:rPr lang="en" sz="1500"/>
              <a:t> nucleotide alignment position→ also, a good sanity check here is to ensure that the base at the alignment position matches the reference allele in the vcf because it shows consistency since the vcf and the mapping files were </a:t>
            </a:r>
            <a:r>
              <a:rPr lang="en" sz="1500"/>
              <a:t>created using the same reference genome for the focal species</a:t>
            </a:r>
            <a:endParaRPr sz="1500"/>
          </a:p>
          <a:p>
            <a:pPr indent="0" lvl="0" marL="9144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But anyway, you record the alignment position N and the base at that position, then you go back to the folder with the nucleotide orthogroup alignment FASTAs</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Find the file with the gene that the variant is in, then go to the alignment position N in the outgroup species and record the bases they have at that position by adding a count of 1 to the necessary position in that comma separated list for the outgroups</a:t>
            </a:r>
            <a:endParaRPr sz="1500"/>
          </a:p>
          <a:p>
            <a:pPr indent="-323850" lvl="1" marL="914400" rtl="0" algn="l">
              <a:spcBef>
                <a:spcPts val="0"/>
              </a:spcBef>
              <a:spcAft>
                <a:spcPts val="0"/>
              </a:spcAft>
              <a:buSzPts val="1500"/>
              <a:buChar char="-"/>
            </a:pPr>
            <a:r>
              <a:rPr lang="en" sz="1500"/>
              <a:t>So here we go to </a:t>
            </a:r>
            <a:r>
              <a:rPr lang="en" sz="1500"/>
              <a:t>alignment</a:t>
            </a:r>
            <a:r>
              <a:rPr lang="en" sz="1500"/>
              <a:t> position 106 in setaria and maize because thats the alignment position that corresponds to the genomic position of the focal species variant, we see setaria has an A and maize has a G, so we add a count of 1 where it needs to go</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Also, if at alignment position N for the outgroups there was a gap instead of a base, we would use the default comma separated list of all zeroes</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In the end, we are left with a CSV file with the variant information and all the allele counts that we can condense so it looks like the data-file.txt the program requires</a:t>
            </a:r>
            <a:endParaRPr sz="15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4d7c94b29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d4d7c94b29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solidFill>
                  <a:schemeClr val="dk1"/>
                </a:solidFill>
              </a:rPr>
              <a:t>And then we also have the output files. The first one doesnt matter at all for our purposes, but it contains the estimated unfolded site frequency spectrum information</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The file that really is important is the </a:t>
            </a:r>
            <a:r>
              <a:rPr lang="en" sz="1900">
                <a:solidFill>
                  <a:schemeClr val="dk1"/>
                </a:solidFill>
              </a:rPr>
              <a:t>next</a:t>
            </a:r>
            <a:r>
              <a:rPr lang="en" sz="1900">
                <a:solidFill>
                  <a:schemeClr val="dk1"/>
                </a:solidFill>
              </a:rPr>
              <a:t> file, which is the ancestral state probabilities output file. </a:t>
            </a:r>
            <a:r>
              <a:rPr b="1" lang="en" sz="1900">
                <a:solidFill>
                  <a:schemeClr val="dk1"/>
                </a:solidFill>
              </a:rPr>
              <a:t>It has a lot of information, but the main feature of interest is the 3rd column which has the probability of the major allele being ancestral</a:t>
            </a:r>
            <a:endParaRPr b="1" sz="19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d4d7c94b29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d4d7c94b29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This is basically the CSV detailed file we made from the last graphic that is the precursor to the data file</a:t>
            </a:r>
            <a:endParaRPr sz="2000"/>
          </a:p>
          <a:p>
            <a:pPr indent="-355600" lvl="0" marL="457200" rtl="0" algn="l">
              <a:spcBef>
                <a:spcPts val="0"/>
              </a:spcBef>
              <a:spcAft>
                <a:spcPts val="0"/>
              </a:spcAft>
              <a:buSzPts val="2000"/>
              <a:buChar char="-"/>
            </a:pPr>
            <a:r>
              <a:rPr lang="en" sz="2000"/>
              <a:t>And i extracted the 3rd column from that important output file and added it so i </a:t>
            </a:r>
            <a:r>
              <a:rPr lang="en" sz="2000"/>
              <a:t>could make the ancestral allele calls</a:t>
            </a:r>
            <a:endParaRPr sz="2000"/>
          </a:p>
          <a:p>
            <a:pPr indent="-355600" lvl="0" marL="457200" rtl="0" algn="l">
              <a:spcBef>
                <a:spcPts val="0"/>
              </a:spcBef>
              <a:spcAft>
                <a:spcPts val="0"/>
              </a:spcAft>
              <a:buSzPts val="2000"/>
              <a:buChar char="-"/>
            </a:pPr>
            <a:r>
              <a:rPr lang="en" sz="2000"/>
              <a:t>Go thru columns</a:t>
            </a:r>
            <a:endParaRPr sz="2000"/>
          </a:p>
          <a:p>
            <a:pPr indent="-355600" lvl="1" marL="914400" rtl="0" algn="l">
              <a:spcBef>
                <a:spcPts val="0"/>
              </a:spcBef>
              <a:spcAft>
                <a:spcPts val="0"/>
              </a:spcAft>
              <a:buSzPts val="2000"/>
              <a:buChar char="-"/>
            </a:pPr>
            <a:r>
              <a:rPr lang="en" sz="2000"/>
              <a:t>Last column is the ancestral call made by just simply using the vcf file’s outgroup as the </a:t>
            </a:r>
            <a:r>
              <a:rPr lang="en" sz="2000"/>
              <a:t>ancestral</a:t>
            </a:r>
            <a:r>
              <a:rPr lang="en" sz="2000"/>
              <a:t> allele aka the EZ way</a:t>
            </a:r>
            <a:endParaRPr sz="20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d4d7c94b29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d4d7c94b29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Ran this script to compare agreement between doing the pipeline the EZ way vs the lozano way and there was 74% agreement between the ancestral calls, which means approximately 3 times out of 4, u will make the same ancestral allele call if you just do it the EZ way</a:t>
            </a:r>
            <a:endParaRPr sz="2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d4d7c94b29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d4d7c94b29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Filtered the deleterious vcf down to the sites used in this est-sfs software run and did the del load calcs again</a:t>
            </a:r>
            <a:endParaRPr sz="20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d4d7c94b29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d4d7c94b29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Did the entire pipeline again but this time with 3 outgroups: setaria italica, maize, and sorghum propinquum</a:t>
            </a:r>
            <a:endParaRPr sz="2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d4d7c94b29_0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d4d7c94b29_0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Next i made a script to compare the ancestral allele calls from my 2 outgroup vs my 3 outgroup est-sfs runs. </a:t>
            </a:r>
            <a:endParaRPr sz="2100"/>
          </a:p>
          <a:p>
            <a:pPr indent="0" lvl="0" marL="0" rtl="0" algn="l">
              <a:spcBef>
                <a:spcPts val="0"/>
              </a:spcBef>
              <a:spcAft>
                <a:spcPts val="0"/>
              </a:spcAft>
              <a:buNone/>
            </a:pPr>
            <a:r>
              <a:t/>
            </a:r>
            <a:endParaRPr sz="2100"/>
          </a:p>
          <a:p>
            <a:pPr indent="-361950" lvl="0" marL="457200" rtl="0" algn="l">
              <a:spcBef>
                <a:spcPts val="0"/>
              </a:spcBef>
              <a:spcAft>
                <a:spcPts val="0"/>
              </a:spcAft>
              <a:buSzPts val="2100"/>
              <a:buChar char="-"/>
            </a:pPr>
            <a:r>
              <a:rPr lang="en" sz="2100"/>
              <a:t>Basically these numbers tell us that there was a 91.3% agreement of ancestral calls between the 2 outgroup run and hte 3 outgroup run, so very similar results even if you increase the number of outgroups used</a:t>
            </a:r>
            <a:endParaRPr sz="2100"/>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7673 variants in 2 outgroup run, 4807 variants total in 3 outgroup run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 71.8% total shared variants (3453/4807)</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Of those shared variants, 91.3% agreement of ancestral calls made by est-sfs</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d4d7c94b29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d4d7c94b29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matter which way u work it out, domesticated consistently has higher </a:t>
            </a:r>
            <a:r>
              <a:rPr lang="en"/>
              <a:t>deleterious</a:t>
            </a:r>
            <a:r>
              <a:rPr lang="en"/>
              <a:t> burden. With low confidence, without low confidence, using est-sfs with 2 outgroups, using est-sfs with 3 outgroups, simply just using the outgroup as the ancestral allele, results are the same every. Single. Time. only diff is the # of available sites that can be used in final del load calcs bc with more outgroups the orthogroups are constrained a bit bc orthofinder must find shared genes </a:t>
            </a:r>
            <a:r>
              <a:rPr lang="en"/>
              <a:t>between</a:t>
            </a:r>
            <a:r>
              <a:rPr lang="en"/>
              <a:t> a higher number of species.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d4d7c94b29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3d4d7c94b29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of the Lozano paper results, we went into this thinking polarization might have big impact on results. But turns out it doesnt have much impact.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d4d7c94b29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d4d7c94b29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8" name="Shape 8"/>
        <p:cNvGrpSpPr/>
        <p:nvPr/>
      </p:nvGrpSpPr>
      <p:grpSpPr>
        <a:xfrm>
          <a:off x="0" y="0"/>
          <a:ext cx="0" cy="0"/>
          <a:chOff x="0" y="0"/>
          <a:chExt cx="0" cy="0"/>
        </a:xfrm>
      </p:grpSpPr>
      <p:sp>
        <p:nvSpPr>
          <p:cNvPr id="9" name="Google Shape;9;p2"/>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0" name="Google Shape;10;p2"/>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 name="Google Shape;11;p2"/>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 name="Google Shape;13;p2"/>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 name="Google Shape;14;p2"/>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 name="Google Shape;15;p2"/>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16" name="Google Shape;16;p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 name="Google Shape;19;p3"/>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 name="Google Shape;20;p3"/>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 name="Google Shape;21;p3"/>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 name="Google Shape;22;p3"/>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 name="Google Shape;23;p3"/>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 name="Google Shape;24;p3"/>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5" name="Google Shape;25;p3"/>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 name="Google Shape;26;p3"/>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27" name="Google Shape;27;p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28" name="Shape 28"/>
        <p:cNvGrpSpPr/>
        <p:nvPr/>
      </p:nvGrpSpPr>
      <p:grpSpPr>
        <a:xfrm>
          <a:off x="0" y="0"/>
          <a:ext cx="0" cy="0"/>
          <a:chOff x="0" y="0"/>
          <a:chExt cx="0" cy="0"/>
        </a:xfrm>
      </p:grpSpPr>
      <p:sp>
        <p:nvSpPr>
          <p:cNvPr id="29" name="Google Shape;29;p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0" name="Google Shape;30;p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 name="Google Shape;31;p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 name="Google Shape;32;p4"/>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 name="Google Shape;33;p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34" name="Shape 34"/>
        <p:cNvGrpSpPr/>
        <p:nvPr/>
      </p:nvGrpSpPr>
      <p:grpSpPr>
        <a:xfrm>
          <a:off x="0" y="0"/>
          <a:ext cx="0" cy="0"/>
          <a:chOff x="0" y="0"/>
          <a:chExt cx="0" cy="0"/>
        </a:xfrm>
      </p:grpSpPr>
      <p:sp>
        <p:nvSpPr>
          <p:cNvPr id="35" name="Google Shape;35;p5"/>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36" name="Google Shape;36;p5"/>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7" name="Google Shape;37;p5"/>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 name="Google Shape;38;p5"/>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9" name="Google Shape;39;p5"/>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 name="Google Shape;40;p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41" name="Shape 41"/>
        <p:cNvGrpSpPr/>
        <p:nvPr/>
      </p:nvGrpSpPr>
      <p:grpSpPr>
        <a:xfrm>
          <a:off x="0" y="0"/>
          <a:ext cx="0" cy="0"/>
          <a:chOff x="0" y="0"/>
          <a:chExt cx="0" cy="0"/>
        </a:xfrm>
      </p:grpSpPr>
      <p:sp>
        <p:nvSpPr>
          <p:cNvPr id="42" name="Google Shape;42;p6"/>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43" name="Google Shape;43;p6"/>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44" name="Google Shape;44;p6"/>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45" name="Google Shape;45;p6"/>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46" name="Google Shape;46;p6"/>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47" name="Google Shape;47;p6"/>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8" name="Google Shape;48;p6"/>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9" name="Google Shape;49;p6"/>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0" name="Google Shape;50;p6"/>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1" name="Google Shape;51;p6"/>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2" name="Google Shape;52;p6"/>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3" name="Google Shape;53;p6"/>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4" name="Google Shape;54;p6"/>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5" name="Google Shape;55;p6"/>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6" name="Google Shape;56;p6"/>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7" name="Google Shape;57;p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58" name="Google Shape;58;p6"/>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9" name="Google Shape;59;p6"/>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0" name="Google Shape;60;p6"/>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1" name="Google Shape;61;p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62" name="Shape 62"/>
        <p:cNvGrpSpPr/>
        <p:nvPr/>
      </p:nvGrpSpPr>
      <p:grpSpPr>
        <a:xfrm>
          <a:off x="0" y="0"/>
          <a:ext cx="0" cy="0"/>
          <a:chOff x="0" y="0"/>
          <a:chExt cx="0" cy="0"/>
        </a:xfrm>
      </p:grpSpPr>
      <p:sp>
        <p:nvSpPr>
          <p:cNvPr id="63" name="Google Shape;63;p7"/>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 name="Google Shape;64;p7"/>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5" name="Google Shape;65;p7"/>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6" name="Google Shape;66;p7"/>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67" name="Google Shape;67;p7"/>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68" name="Google Shape;68;p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9" name="Google Shape;69;p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0" name="Google Shape;70;p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1" name="Google Shape;71;p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72" name="Shape 72"/>
        <p:cNvGrpSpPr/>
        <p:nvPr/>
      </p:nvGrpSpPr>
      <p:grpSpPr>
        <a:xfrm>
          <a:off x="0" y="0"/>
          <a:ext cx="0" cy="0"/>
          <a:chOff x="0" y="0"/>
          <a:chExt cx="0" cy="0"/>
        </a:xfrm>
      </p:grpSpPr>
      <p:sp>
        <p:nvSpPr>
          <p:cNvPr id="73" name="Google Shape;73;p8"/>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74" name="Google Shape;74;p8"/>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5" name="Google Shape;75;p8"/>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6" name="Google Shape;76;p8"/>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77" name="Google Shape;77;p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78" name="Shape 78"/>
        <p:cNvGrpSpPr/>
        <p:nvPr/>
      </p:nvGrpSpPr>
      <p:grpSpPr>
        <a:xfrm>
          <a:off x="0" y="0"/>
          <a:ext cx="0" cy="0"/>
          <a:chOff x="0" y="0"/>
          <a:chExt cx="0" cy="0"/>
        </a:xfrm>
      </p:grpSpPr>
      <p:sp>
        <p:nvSpPr>
          <p:cNvPr id="79" name="Google Shape;79;p9"/>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0" name="Google Shape;80;p9"/>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1" name="Google Shape;81;p9"/>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2" name="Google Shape;82;p9"/>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3" name="Google Shape;83;p9"/>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9"/>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5" name="Google Shape;85;p9"/>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6" name="Google Shape;86;p9"/>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7" name="Google Shape;87;p9"/>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8" name="Google Shape;88;p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89" name="Shape 89"/>
        <p:cNvGrpSpPr/>
        <p:nvPr/>
      </p:nvGrpSpPr>
      <p:grpSpPr>
        <a:xfrm>
          <a:off x="0" y="0"/>
          <a:ext cx="0" cy="0"/>
          <a:chOff x="0" y="0"/>
          <a:chExt cx="0" cy="0"/>
        </a:xfrm>
      </p:grpSpPr>
      <p:sp>
        <p:nvSpPr>
          <p:cNvPr id="90" name="Google Shape;90;p1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1" name="Google Shape;91;p1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2" name="Google Shape;92;p10"/>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3" name="Google Shape;93;p10"/>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4" name="Google Shape;94;p10"/>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95" name="Google Shape;95;p10"/>
          <p:cNvSpPr/>
          <p:nvPr>
            <p:ph idx="4" type="pic"/>
          </p:nvPr>
        </p:nvSpPr>
        <p:spPr>
          <a:xfrm>
            <a:off x="6364300" y="0"/>
            <a:ext cx="2779500" cy="3813600"/>
          </a:xfrm>
          <a:prstGeom prst="round2DiagRect">
            <a:avLst>
              <a:gd fmla="val 50000" name="adj1"/>
              <a:gd fmla="val 0" name="adj2"/>
            </a:avLst>
          </a:prstGeom>
          <a:noFill/>
          <a:ln>
            <a:noFill/>
          </a:ln>
        </p:spPr>
      </p:sp>
      <p:sp>
        <p:nvSpPr>
          <p:cNvPr id="96" name="Google Shape;96;p1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7" name="Google Shape;97;p1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98" name="Google Shape;98;p1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99" name="Shape 99"/>
        <p:cNvGrpSpPr/>
        <p:nvPr/>
      </p:nvGrpSpPr>
      <p:grpSpPr>
        <a:xfrm>
          <a:off x="0" y="0"/>
          <a:ext cx="0" cy="0"/>
          <a:chOff x="0" y="0"/>
          <a:chExt cx="0" cy="0"/>
        </a:xfrm>
      </p:grpSpPr>
      <p:sp>
        <p:nvSpPr>
          <p:cNvPr id="100" name="Google Shape;100;p11"/>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1" name="Google Shape;101;p11"/>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1"/>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1"/>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04" name="Google Shape;104;p11"/>
          <p:cNvSpPr/>
          <p:nvPr>
            <p:ph idx="2" type="pic"/>
          </p:nvPr>
        </p:nvSpPr>
        <p:spPr>
          <a:xfrm>
            <a:off x="6335600" y="1231675"/>
            <a:ext cx="2808600" cy="2498700"/>
          </a:xfrm>
          <a:prstGeom prst="round1Rect">
            <a:avLst>
              <a:gd fmla="val 50000" name="adj"/>
            </a:avLst>
          </a:prstGeom>
          <a:noFill/>
          <a:ln>
            <a:noFill/>
          </a:ln>
        </p:spPr>
      </p:sp>
      <p:sp>
        <p:nvSpPr>
          <p:cNvPr id="105" name="Google Shape;105;p1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6" name="Google Shape;106;p11"/>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07" name="Google Shape;107;p11"/>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8" name="Google Shape;108;p11"/>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9" name="Google Shape;109;p11"/>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0" name="Google Shape;110;p1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11" name="Shape 111"/>
        <p:cNvGrpSpPr/>
        <p:nvPr/>
      </p:nvGrpSpPr>
      <p:grpSpPr>
        <a:xfrm>
          <a:off x="0" y="0"/>
          <a:ext cx="0" cy="0"/>
          <a:chOff x="0" y="0"/>
          <a:chExt cx="0" cy="0"/>
        </a:xfrm>
      </p:grpSpPr>
      <p:sp>
        <p:nvSpPr>
          <p:cNvPr id="112" name="Google Shape;112;p1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3" name="Google Shape;113;p1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14" name="Google Shape;114;p12"/>
          <p:cNvGrpSpPr/>
          <p:nvPr/>
        </p:nvGrpSpPr>
        <p:grpSpPr>
          <a:xfrm>
            <a:off x="6324521" y="8900"/>
            <a:ext cx="2848500" cy="6539200"/>
            <a:chOff x="6324521" y="8900"/>
            <a:chExt cx="2848500" cy="6539200"/>
          </a:xfrm>
        </p:grpSpPr>
        <p:sp>
          <p:nvSpPr>
            <p:cNvPr id="115" name="Google Shape;115;p12"/>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6" name="Google Shape;116;p12"/>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2"/>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18" name="Google Shape;118;p1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19" name="Google Shape;119;p12"/>
          <p:cNvSpPr/>
          <p:nvPr>
            <p:ph idx="4" type="pic"/>
          </p:nvPr>
        </p:nvSpPr>
        <p:spPr>
          <a:xfrm rot="10800000">
            <a:off x="6324525" y="0"/>
            <a:ext cx="2819400" cy="3715800"/>
          </a:xfrm>
          <a:prstGeom prst="round2SameRect">
            <a:avLst>
              <a:gd fmla="val 50000" name="adj1"/>
              <a:gd fmla="val 0" name="adj2"/>
            </a:avLst>
          </a:prstGeom>
          <a:noFill/>
          <a:ln>
            <a:noFill/>
          </a:ln>
        </p:spPr>
      </p:sp>
      <p:sp>
        <p:nvSpPr>
          <p:cNvPr id="120" name="Google Shape;120;p1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21" name="Google Shape;121;p1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22" name="Google Shape;122;p1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23" name="Shape 123"/>
        <p:cNvGrpSpPr/>
        <p:nvPr/>
      </p:nvGrpSpPr>
      <p:grpSpPr>
        <a:xfrm>
          <a:off x="0" y="0"/>
          <a:ext cx="0" cy="0"/>
          <a:chOff x="0" y="0"/>
          <a:chExt cx="0" cy="0"/>
        </a:xfrm>
      </p:grpSpPr>
      <p:sp>
        <p:nvSpPr>
          <p:cNvPr id="124" name="Google Shape;124;p13"/>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5" name="Google Shape;125;p13"/>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6" name="Google Shape;126;p1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27" name="Google Shape;127;p13"/>
          <p:cNvSpPr/>
          <p:nvPr>
            <p:ph idx="2" type="pic"/>
          </p:nvPr>
        </p:nvSpPr>
        <p:spPr>
          <a:xfrm>
            <a:off x="6355775" y="1418625"/>
            <a:ext cx="2788200" cy="3725100"/>
          </a:xfrm>
          <a:prstGeom prst="round2DiagRect">
            <a:avLst>
              <a:gd fmla="val 50000" name="adj1"/>
              <a:gd fmla="val 0" name="adj2"/>
            </a:avLst>
          </a:prstGeom>
          <a:noFill/>
          <a:ln>
            <a:noFill/>
          </a:ln>
        </p:spPr>
      </p:sp>
      <p:sp>
        <p:nvSpPr>
          <p:cNvPr id="128" name="Google Shape;128;p1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9" name="Google Shape;129;p1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30" name="Google Shape;130;p1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1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1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1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34" name="Shape 134"/>
        <p:cNvGrpSpPr/>
        <p:nvPr/>
      </p:nvGrpSpPr>
      <p:grpSpPr>
        <a:xfrm>
          <a:off x="0" y="0"/>
          <a:ext cx="0" cy="0"/>
          <a:chOff x="0" y="0"/>
          <a:chExt cx="0" cy="0"/>
        </a:xfrm>
      </p:grpSpPr>
      <p:sp>
        <p:nvSpPr>
          <p:cNvPr id="135" name="Google Shape;135;p14"/>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36" name="Google Shape;136;p14"/>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7" name="Google Shape;137;p14"/>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14"/>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14"/>
          <p:cNvSpPr/>
          <p:nvPr>
            <p:ph idx="2" type="pic"/>
          </p:nvPr>
        </p:nvSpPr>
        <p:spPr>
          <a:xfrm rot="10800000">
            <a:off x="6364225" y="0"/>
            <a:ext cx="2784600" cy="3775800"/>
          </a:xfrm>
          <a:prstGeom prst="round1Rect">
            <a:avLst>
              <a:gd fmla="val 50000" name="adj"/>
            </a:avLst>
          </a:prstGeom>
          <a:noFill/>
          <a:ln>
            <a:noFill/>
          </a:ln>
        </p:spPr>
      </p:sp>
      <p:sp>
        <p:nvSpPr>
          <p:cNvPr id="140" name="Google Shape;140;p1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1" name="Google Shape;141;p14"/>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2" name="Google Shape;142;p14"/>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3" name="Google Shape;143;p14"/>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4" name="Google Shape;144;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45" name="Shape 145"/>
        <p:cNvGrpSpPr/>
        <p:nvPr/>
      </p:nvGrpSpPr>
      <p:grpSpPr>
        <a:xfrm>
          <a:off x="0" y="0"/>
          <a:ext cx="0" cy="0"/>
          <a:chOff x="0" y="0"/>
          <a:chExt cx="0" cy="0"/>
        </a:xfrm>
      </p:grpSpPr>
      <p:sp>
        <p:nvSpPr>
          <p:cNvPr id="146" name="Google Shape;146;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7" name="Google Shape;147;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8" name="Google Shape;148;p15"/>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9" name="Google Shape;149;p15"/>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0" name="Google Shape;150;p15"/>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51" name="Google Shape;151;p1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2" name="Google Shape;152;p15"/>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3" name="Google Shape;153;p15"/>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4" name="Google Shape;154;p15"/>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156" name="Shape 156"/>
        <p:cNvGrpSpPr/>
        <p:nvPr/>
      </p:nvGrpSpPr>
      <p:grpSpPr>
        <a:xfrm>
          <a:off x="0" y="0"/>
          <a:ext cx="0" cy="0"/>
          <a:chOff x="0" y="0"/>
          <a:chExt cx="0" cy="0"/>
        </a:xfrm>
      </p:grpSpPr>
      <p:sp>
        <p:nvSpPr>
          <p:cNvPr id="157" name="Google Shape;157;p16"/>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8" name="Google Shape;158;p16"/>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6"/>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0" name="Google Shape;160;p1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1" name="Google Shape;161;p1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62" name="Google Shape;162;p16"/>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3" name="Google Shape;163;p16"/>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4" name="Google Shape;164;p16"/>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5" name="Google Shape;165;p16"/>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66" name="Google Shape;166;p16"/>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7" name="Google Shape;167;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168" name="Shape 168"/>
        <p:cNvGrpSpPr/>
        <p:nvPr/>
      </p:nvGrpSpPr>
      <p:grpSpPr>
        <a:xfrm>
          <a:off x="0" y="0"/>
          <a:ext cx="0" cy="0"/>
          <a:chOff x="0" y="0"/>
          <a:chExt cx="0" cy="0"/>
        </a:xfrm>
      </p:grpSpPr>
      <p:sp>
        <p:nvSpPr>
          <p:cNvPr id="169" name="Google Shape;169;p1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0" name="Google Shape;170;p1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1" name="Google Shape;171;p1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172" name="Google Shape;172;p17"/>
          <p:cNvGrpSpPr/>
          <p:nvPr/>
        </p:nvGrpSpPr>
        <p:grpSpPr>
          <a:xfrm>
            <a:off x="6324521" y="8900"/>
            <a:ext cx="2848500" cy="6539200"/>
            <a:chOff x="6324521" y="8900"/>
            <a:chExt cx="2848500" cy="6539200"/>
          </a:xfrm>
        </p:grpSpPr>
        <p:sp>
          <p:nvSpPr>
            <p:cNvPr id="173" name="Google Shape;173;p17"/>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4" name="Google Shape;174;p17"/>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5" name="Google Shape;175;p17"/>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76" name="Google Shape;176;p17"/>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7" name="Google Shape;177;p1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78" name="Google Shape;178;p17"/>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9" name="Google Shape;179;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180" name="Shape 180"/>
        <p:cNvGrpSpPr/>
        <p:nvPr/>
      </p:nvGrpSpPr>
      <p:grpSpPr>
        <a:xfrm>
          <a:off x="0" y="0"/>
          <a:ext cx="0" cy="0"/>
          <a:chOff x="0" y="0"/>
          <a:chExt cx="0" cy="0"/>
        </a:xfrm>
      </p:grpSpPr>
      <p:sp>
        <p:nvSpPr>
          <p:cNvPr id="181" name="Google Shape;181;p1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1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1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84" name="Google Shape;184;p18"/>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5" name="Google Shape;185;p18"/>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6" name="Google Shape;186;p18"/>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7" name="Google Shape;187;p1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8" name="Google Shape;188;p18"/>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9" name="Google Shape;189;p18"/>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0" name="Google Shape;190;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191" name="Shape 191"/>
        <p:cNvGrpSpPr/>
        <p:nvPr/>
      </p:nvGrpSpPr>
      <p:grpSpPr>
        <a:xfrm>
          <a:off x="0" y="0"/>
          <a:ext cx="0" cy="0"/>
          <a:chOff x="0" y="0"/>
          <a:chExt cx="0" cy="0"/>
        </a:xfrm>
      </p:grpSpPr>
      <p:sp>
        <p:nvSpPr>
          <p:cNvPr id="192" name="Google Shape;192;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4" name="Google Shape;194;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95" name="Google Shape;195;p1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19"/>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7" name="Google Shape;197;p19"/>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8" name="Google Shape;198;p19"/>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1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0" name="Google Shape;200;p1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1" name="Google Shape;201;p19"/>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2" name="Google Shape;202;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03" name="Shape 203"/>
        <p:cNvGrpSpPr/>
        <p:nvPr/>
      </p:nvGrpSpPr>
      <p:grpSpPr>
        <a:xfrm>
          <a:off x="0" y="0"/>
          <a:ext cx="0" cy="0"/>
          <a:chOff x="0" y="0"/>
          <a:chExt cx="0" cy="0"/>
        </a:xfrm>
      </p:grpSpPr>
      <p:sp>
        <p:nvSpPr>
          <p:cNvPr id="204" name="Google Shape;204;p20"/>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5" name="Google Shape;205;p20"/>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6" name="Google Shape;206;p20"/>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7" name="Google Shape;207;p20"/>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8" name="Google Shape;208;p20"/>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9" name="Google Shape;209;p20"/>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0" name="Google Shape;210;p20"/>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1" name="Google Shape;211;p20"/>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2" name="Google Shape;212;p20"/>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3" name="Google Shape;213;p20"/>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14" name="Google Shape;214;p2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7" name="Google Shape;217;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18" name="Shape 218"/>
        <p:cNvGrpSpPr/>
        <p:nvPr/>
      </p:nvGrpSpPr>
      <p:grpSpPr>
        <a:xfrm>
          <a:off x="0" y="0"/>
          <a:ext cx="0" cy="0"/>
          <a:chOff x="0" y="0"/>
          <a:chExt cx="0" cy="0"/>
        </a:xfrm>
      </p:grpSpPr>
      <p:sp>
        <p:nvSpPr>
          <p:cNvPr id="219" name="Google Shape;219;p21"/>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1"/>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21"/>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2" name="Google Shape;222;p21"/>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3" name="Google Shape;223;p21"/>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4" name="Google Shape;224;p21"/>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5" name="Google Shape;225;p21"/>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6" name="Google Shape;226;p21"/>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7" name="Google Shape;227;p21"/>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28" name="Google Shape;228;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9" name="Google Shape;229;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30" name="Google Shape;230;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31" name="Shape 231"/>
        <p:cNvGrpSpPr/>
        <p:nvPr/>
      </p:nvGrpSpPr>
      <p:grpSpPr>
        <a:xfrm>
          <a:off x="0" y="0"/>
          <a:ext cx="0" cy="0"/>
          <a:chOff x="0" y="0"/>
          <a:chExt cx="0" cy="0"/>
        </a:xfrm>
      </p:grpSpPr>
      <p:sp>
        <p:nvSpPr>
          <p:cNvPr id="232" name="Google Shape;232;p22"/>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3" name="Google Shape;233;p22"/>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4" name="Google Shape;234;p22"/>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5" name="Google Shape;235;p22"/>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6" name="Google Shape;236;p22"/>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7" name="Google Shape;237;p22"/>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8" name="Google Shape;238;p22"/>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9" name="Google Shape;239;p22"/>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40" name="Google Shape;240;p22"/>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1" name="Google Shape;241;p22"/>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2" name="Google Shape;242;p22"/>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22"/>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44" name="Google Shape;244;p22"/>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5" name="Google Shape;245;p22"/>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6" name="Google Shape;246;p22"/>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7" name="Google Shape;247;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48" name="Shape 248"/>
        <p:cNvGrpSpPr/>
        <p:nvPr/>
      </p:nvGrpSpPr>
      <p:grpSpPr>
        <a:xfrm>
          <a:off x="0" y="0"/>
          <a:ext cx="0" cy="0"/>
          <a:chOff x="0" y="0"/>
          <a:chExt cx="0" cy="0"/>
        </a:xfrm>
      </p:grpSpPr>
      <p:sp>
        <p:nvSpPr>
          <p:cNvPr id="249" name="Google Shape;249;p23"/>
          <p:cNvSpPr/>
          <p:nvPr>
            <p:ph idx="2" type="pic"/>
          </p:nvPr>
        </p:nvSpPr>
        <p:spPr>
          <a:xfrm>
            <a:off x="4162550" y="816050"/>
            <a:ext cx="1444500" cy="1444500"/>
          </a:xfrm>
          <a:prstGeom prst="round2DiagRect">
            <a:avLst>
              <a:gd fmla="val 0" name="adj1"/>
              <a:gd fmla="val 0" name="adj2"/>
            </a:avLst>
          </a:prstGeom>
          <a:noFill/>
          <a:ln>
            <a:noFill/>
          </a:ln>
        </p:spPr>
      </p:sp>
      <p:sp>
        <p:nvSpPr>
          <p:cNvPr id="250" name="Google Shape;250;p23"/>
          <p:cNvSpPr/>
          <p:nvPr>
            <p:ph idx="3" type="pic"/>
          </p:nvPr>
        </p:nvSpPr>
        <p:spPr>
          <a:xfrm>
            <a:off x="5788675" y="816050"/>
            <a:ext cx="1444500" cy="1444500"/>
          </a:xfrm>
          <a:prstGeom prst="ellipse">
            <a:avLst/>
          </a:prstGeom>
          <a:noFill/>
          <a:ln>
            <a:noFill/>
          </a:ln>
        </p:spPr>
      </p:sp>
      <p:sp>
        <p:nvSpPr>
          <p:cNvPr id="251" name="Google Shape;251;p23"/>
          <p:cNvSpPr/>
          <p:nvPr>
            <p:ph idx="4" type="pic"/>
          </p:nvPr>
        </p:nvSpPr>
        <p:spPr>
          <a:xfrm>
            <a:off x="7414800" y="816050"/>
            <a:ext cx="1444500" cy="1444500"/>
          </a:xfrm>
          <a:prstGeom prst="round1Rect">
            <a:avLst>
              <a:gd fmla="val 30895" name="adj"/>
            </a:avLst>
          </a:prstGeom>
          <a:noFill/>
          <a:ln>
            <a:noFill/>
          </a:ln>
        </p:spPr>
      </p:sp>
      <p:sp>
        <p:nvSpPr>
          <p:cNvPr id="252" name="Google Shape;252;p23"/>
          <p:cNvSpPr/>
          <p:nvPr>
            <p:ph idx="5" type="pic"/>
          </p:nvPr>
        </p:nvSpPr>
        <p:spPr>
          <a:xfrm>
            <a:off x="2536475" y="2897400"/>
            <a:ext cx="1444500" cy="1444500"/>
          </a:xfrm>
          <a:prstGeom prst="round2DiagRect">
            <a:avLst>
              <a:gd fmla="val 0" name="adj1"/>
              <a:gd fmla="val 0" name="adj2"/>
            </a:avLst>
          </a:prstGeom>
          <a:noFill/>
          <a:ln>
            <a:noFill/>
          </a:ln>
        </p:spPr>
      </p:sp>
      <p:sp>
        <p:nvSpPr>
          <p:cNvPr id="253" name="Google Shape;253;p23"/>
          <p:cNvSpPr/>
          <p:nvPr>
            <p:ph idx="6" type="pic"/>
          </p:nvPr>
        </p:nvSpPr>
        <p:spPr>
          <a:xfrm>
            <a:off x="4162600" y="2897400"/>
            <a:ext cx="1444500" cy="1444500"/>
          </a:xfrm>
          <a:prstGeom prst="ellipse">
            <a:avLst/>
          </a:prstGeom>
          <a:noFill/>
          <a:ln>
            <a:noFill/>
          </a:ln>
        </p:spPr>
      </p:sp>
      <p:sp>
        <p:nvSpPr>
          <p:cNvPr id="254" name="Google Shape;254;p23"/>
          <p:cNvSpPr/>
          <p:nvPr>
            <p:ph idx="7" type="pic"/>
          </p:nvPr>
        </p:nvSpPr>
        <p:spPr>
          <a:xfrm>
            <a:off x="5788725" y="2897400"/>
            <a:ext cx="1444500" cy="1444500"/>
          </a:xfrm>
          <a:prstGeom prst="round1Rect">
            <a:avLst>
              <a:gd fmla="val 30895" name="adj"/>
            </a:avLst>
          </a:prstGeom>
          <a:noFill/>
          <a:ln>
            <a:noFill/>
          </a:ln>
        </p:spPr>
      </p:sp>
      <p:sp>
        <p:nvSpPr>
          <p:cNvPr id="255" name="Google Shape;255;p23"/>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6" name="Google Shape;256;p23"/>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7" name="Google Shape;257;p23"/>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8" name="Google Shape;258;p23"/>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9" name="Google Shape;259;p23"/>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0" name="Google Shape;260;p23"/>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1" name="Google Shape;261;p23"/>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2" name="Google Shape;262;p23"/>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3" name="Google Shape;263;p23"/>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4" name="Google Shape;264;p23"/>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5" name="Google Shape;265;p23"/>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6" name="Google Shape;266;p23"/>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7" name="Google Shape;267;p23"/>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268" name="Google Shape;268;p23"/>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9" name="Google Shape;269;p23"/>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0" name="Google Shape;270;p23"/>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1" name="Google Shape;271;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272" name="Shape 272"/>
        <p:cNvGrpSpPr/>
        <p:nvPr/>
      </p:nvGrpSpPr>
      <p:grpSpPr>
        <a:xfrm>
          <a:off x="0" y="0"/>
          <a:ext cx="0" cy="0"/>
          <a:chOff x="0" y="0"/>
          <a:chExt cx="0" cy="0"/>
        </a:xfrm>
      </p:grpSpPr>
      <p:sp>
        <p:nvSpPr>
          <p:cNvPr id="273" name="Google Shape;273;p24"/>
          <p:cNvSpPr/>
          <p:nvPr>
            <p:ph idx="2" type="pic"/>
          </p:nvPr>
        </p:nvSpPr>
        <p:spPr>
          <a:xfrm>
            <a:off x="284700" y="1523850"/>
            <a:ext cx="1514700" cy="1312800"/>
          </a:xfrm>
          <a:prstGeom prst="round1Rect">
            <a:avLst>
              <a:gd fmla="val 39781" name="adj"/>
            </a:avLst>
          </a:prstGeom>
          <a:noFill/>
          <a:ln>
            <a:noFill/>
          </a:ln>
        </p:spPr>
      </p:sp>
      <p:sp>
        <p:nvSpPr>
          <p:cNvPr id="274" name="Google Shape;274;p24"/>
          <p:cNvSpPr/>
          <p:nvPr>
            <p:ph idx="3" type="pic"/>
          </p:nvPr>
        </p:nvSpPr>
        <p:spPr>
          <a:xfrm>
            <a:off x="2163625" y="1523850"/>
            <a:ext cx="1514700" cy="1312800"/>
          </a:xfrm>
          <a:prstGeom prst="round1Rect">
            <a:avLst>
              <a:gd fmla="val 39781" name="adj"/>
            </a:avLst>
          </a:prstGeom>
          <a:noFill/>
          <a:ln>
            <a:noFill/>
          </a:ln>
        </p:spPr>
      </p:sp>
      <p:sp>
        <p:nvSpPr>
          <p:cNvPr id="275" name="Google Shape;275;p24"/>
          <p:cNvSpPr/>
          <p:nvPr>
            <p:ph idx="4" type="pic"/>
          </p:nvPr>
        </p:nvSpPr>
        <p:spPr>
          <a:xfrm>
            <a:off x="4087000" y="1523850"/>
            <a:ext cx="1514700" cy="1312800"/>
          </a:xfrm>
          <a:prstGeom prst="round1Rect">
            <a:avLst>
              <a:gd fmla="val 39781" name="adj"/>
            </a:avLst>
          </a:prstGeom>
          <a:noFill/>
          <a:ln>
            <a:noFill/>
          </a:ln>
        </p:spPr>
      </p:sp>
      <p:sp>
        <p:nvSpPr>
          <p:cNvPr id="276" name="Google Shape;276;p24"/>
          <p:cNvSpPr/>
          <p:nvPr>
            <p:ph idx="5" type="pic"/>
          </p:nvPr>
        </p:nvSpPr>
        <p:spPr>
          <a:xfrm>
            <a:off x="5960425" y="1523850"/>
            <a:ext cx="1514700" cy="1312800"/>
          </a:xfrm>
          <a:prstGeom prst="round1Rect">
            <a:avLst>
              <a:gd fmla="val 39781" name="adj"/>
            </a:avLst>
          </a:prstGeom>
          <a:noFill/>
          <a:ln>
            <a:noFill/>
          </a:ln>
        </p:spPr>
      </p:sp>
      <p:sp>
        <p:nvSpPr>
          <p:cNvPr id="277" name="Google Shape;277;p24"/>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8" name="Google Shape;278;p24"/>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9" name="Google Shape;279;p24"/>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0" name="Google Shape;280;p24"/>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1" name="Google Shape;281;p24"/>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2" name="Google Shape;282;p24"/>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3" name="Google Shape;283;p24"/>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4" name="Google Shape;284;p24"/>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5" name="Google Shape;285;p24"/>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6" name="Google Shape;286;p24"/>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7" name="Google Shape;287;p24"/>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8" name="Google Shape;288;p24"/>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9" name="Google Shape;289;p2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290" name="Google Shape;290;p24"/>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24"/>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2" name="Google Shape;292;p24"/>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3" name="Google Shape;293;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294" name="Shape 294"/>
        <p:cNvGrpSpPr/>
        <p:nvPr/>
      </p:nvGrpSpPr>
      <p:grpSpPr>
        <a:xfrm>
          <a:off x="0" y="0"/>
          <a:ext cx="0" cy="0"/>
          <a:chOff x="0" y="0"/>
          <a:chExt cx="0" cy="0"/>
        </a:xfrm>
      </p:grpSpPr>
      <p:sp>
        <p:nvSpPr>
          <p:cNvPr id="295" name="Google Shape;295;p25"/>
          <p:cNvSpPr/>
          <p:nvPr>
            <p:ph idx="2" type="pic"/>
          </p:nvPr>
        </p:nvSpPr>
        <p:spPr>
          <a:xfrm>
            <a:off x="469875" y="1995075"/>
            <a:ext cx="418800" cy="418800"/>
          </a:xfrm>
          <a:prstGeom prst="ellipse">
            <a:avLst/>
          </a:prstGeom>
          <a:noFill/>
          <a:ln>
            <a:noFill/>
          </a:ln>
        </p:spPr>
      </p:sp>
      <p:sp>
        <p:nvSpPr>
          <p:cNvPr id="296" name="Google Shape;296;p25"/>
          <p:cNvSpPr/>
          <p:nvPr>
            <p:ph idx="3" type="pic"/>
          </p:nvPr>
        </p:nvSpPr>
        <p:spPr>
          <a:xfrm>
            <a:off x="888450" y="1995075"/>
            <a:ext cx="418800" cy="418800"/>
          </a:xfrm>
          <a:prstGeom prst="ellipse">
            <a:avLst/>
          </a:prstGeom>
          <a:noFill/>
          <a:ln>
            <a:noFill/>
          </a:ln>
        </p:spPr>
      </p:sp>
      <p:sp>
        <p:nvSpPr>
          <p:cNvPr id="297" name="Google Shape;297;p25"/>
          <p:cNvSpPr/>
          <p:nvPr>
            <p:ph idx="4" type="pic"/>
          </p:nvPr>
        </p:nvSpPr>
        <p:spPr>
          <a:xfrm>
            <a:off x="1307025" y="1995075"/>
            <a:ext cx="418800" cy="418800"/>
          </a:xfrm>
          <a:prstGeom prst="ellipse">
            <a:avLst/>
          </a:prstGeom>
          <a:noFill/>
          <a:ln>
            <a:noFill/>
          </a:ln>
        </p:spPr>
      </p:sp>
      <p:sp>
        <p:nvSpPr>
          <p:cNvPr id="298" name="Google Shape;298;p25"/>
          <p:cNvSpPr/>
          <p:nvPr>
            <p:ph idx="5" type="pic"/>
          </p:nvPr>
        </p:nvSpPr>
        <p:spPr>
          <a:xfrm>
            <a:off x="469875" y="2413650"/>
            <a:ext cx="418800" cy="418800"/>
          </a:xfrm>
          <a:prstGeom prst="ellipse">
            <a:avLst/>
          </a:prstGeom>
          <a:noFill/>
          <a:ln>
            <a:noFill/>
          </a:ln>
        </p:spPr>
      </p:sp>
      <p:sp>
        <p:nvSpPr>
          <p:cNvPr id="299" name="Google Shape;299;p25"/>
          <p:cNvSpPr/>
          <p:nvPr>
            <p:ph idx="6" type="pic"/>
          </p:nvPr>
        </p:nvSpPr>
        <p:spPr>
          <a:xfrm>
            <a:off x="888450" y="2413650"/>
            <a:ext cx="418800" cy="418800"/>
          </a:xfrm>
          <a:prstGeom prst="ellipse">
            <a:avLst/>
          </a:prstGeom>
          <a:noFill/>
          <a:ln>
            <a:noFill/>
          </a:ln>
        </p:spPr>
      </p:sp>
      <p:sp>
        <p:nvSpPr>
          <p:cNvPr id="300" name="Google Shape;300;p25"/>
          <p:cNvSpPr/>
          <p:nvPr>
            <p:ph idx="7" type="pic"/>
          </p:nvPr>
        </p:nvSpPr>
        <p:spPr>
          <a:xfrm>
            <a:off x="1307025" y="2413650"/>
            <a:ext cx="418800" cy="418800"/>
          </a:xfrm>
          <a:prstGeom prst="ellipse">
            <a:avLst/>
          </a:prstGeom>
          <a:noFill/>
          <a:ln>
            <a:noFill/>
          </a:ln>
        </p:spPr>
      </p:sp>
      <p:sp>
        <p:nvSpPr>
          <p:cNvPr id="301" name="Google Shape;301;p25"/>
          <p:cNvSpPr/>
          <p:nvPr>
            <p:ph idx="8" type="pic"/>
          </p:nvPr>
        </p:nvSpPr>
        <p:spPr>
          <a:xfrm>
            <a:off x="3330700" y="1995075"/>
            <a:ext cx="418800" cy="418800"/>
          </a:xfrm>
          <a:prstGeom prst="ellipse">
            <a:avLst/>
          </a:prstGeom>
          <a:noFill/>
          <a:ln>
            <a:noFill/>
          </a:ln>
        </p:spPr>
      </p:sp>
      <p:sp>
        <p:nvSpPr>
          <p:cNvPr id="302" name="Google Shape;302;p25"/>
          <p:cNvSpPr/>
          <p:nvPr>
            <p:ph idx="9" type="pic"/>
          </p:nvPr>
        </p:nvSpPr>
        <p:spPr>
          <a:xfrm>
            <a:off x="3749275" y="1995075"/>
            <a:ext cx="418800" cy="418800"/>
          </a:xfrm>
          <a:prstGeom prst="ellipse">
            <a:avLst/>
          </a:prstGeom>
          <a:noFill/>
          <a:ln>
            <a:noFill/>
          </a:ln>
        </p:spPr>
      </p:sp>
      <p:sp>
        <p:nvSpPr>
          <p:cNvPr id="303" name="Google Shape;303;p25"/>
          <p:cNvSpPr/>
          <p:nvPr>
            <p:ph idx="13" type="pic"/>
          </p:nvPr>
        </p:nvSpPr>
        <p:spPr>
          <a:xfrm>
            <a:off x="4167850" y="1995075"/>
            <a:ext cx="418800" cy="418800"/>
          </a:xfrm>
          <a:prstGeom prst="ellipse">
            <a:avLst/>
          </a:prstGeom>
          <a:noFill/>
          <a:ln>
            <a:noFill/>
          </a:ln>
        </p:spPr>
      </p:sp>
      <p:sp>
        <p:nvSpPr>
          <p:cNvPr id="304" name="Google Shape;304;p25"/>
          <p:cNvSpPr/>
          <p:nvPr>
            <p:ph idx="14" type="pic"/>
          </p:nvPr>
        </p:nvSpPr>
        <p:spPr>
          <a:xfrm>
            <a:off x="3330700" y="2413650"/>
            <a:ext cx="418800" cy="418800"/>
          </a:xfrm>
          <a:prstGeom prst="ellipse">
            <a:avLst/>
          </a:prstGeom>
          <a:noFill/>
          <a:ln>
            <a:noFill/>
          </a:ln>
        </p:spPr>
      </p:sp>
      <p:sp>
        <p:nvSpPr>
          <p:cNvPr id="305" name="Google Shape;305;p25"/>
          <p:cNvSpPr/>
          <p:nvPr>
            <p:ph idx="15" type="pic"/>
          </p:nvPr>
        </p:nvSpPr>
        <p:spPr>
          <a:xfrm>
            <a:off x="3749275" y="2413650"/>
            <a:ext cx="418800" cy="418800"/>
          </a:xfrm>
          <a:prstGeom prst="ellipse">
            <a:avLst/>
          </a:prstGeom>
          <a:noFill/>
          <a:ln>
            <a:noFill/>
          </a:ln>
        </p:spPr>
      </p:sp>
      <p:sp>
        <p:nvSpPr>
          <p:cNvPr id="306" name="Google Shape;306;p25"/>
          <p:cNvSpPr/>
          <p:nvPr>
            <p:ph idx="16" type="pic"/>
          </p:nvPr>
        </p:nvSpPr>
        <p:spPr>
          <a:xfrm>
            <a:off x="4167850" y="2413650"/>
            <a:ext cx="418800" cy="418800"/>
          </a:xfrm>
          <a:prstGeom prst="ellipse">
            <a:avLst/>
          </a:prstGeom>
          <a:noFill/>
          <a:ln>
            <a:noFill/>
          </a:ln>
        </p:spPr>
      </p:sp>
      <p:sp>
        <p:nvSpPr>
          <p:cNvPr id="307" name="Google Shape;307;p25"/>
          <p:cNvSpPr/>
          <p:nvPr>
            <p:ph idx="17" type="pic"/>
          </p:nvPr>
        </p:nvSpPr>
        <p:spPr>
          <a:xfrm>
            <a:off x="469875" y="3832025"/>
            <a:ext cx="418800" cy="418800"/>
          </a:xfrm>
          <a:prstGeom prst="ellipse">
            <a:avLst/>
          </a:prstGeom>
          <a:noFill/>
          <a:ln>
            <a:noFill/>
          </a:ln>
        </p:spPr>
      </p:sp>
      <p:sp>
        <p:nvSpPr>
          <p:cNvPr id="308" name="Google Shape;308;p25"/>
          <p:cNvSpPr/>
          <p:nvPr>
            <p:ph idx="18" type="pic"/>
          </p:nvPr>
        </p:nvSpPr>
        <p:spPr>
          <a:xfrm>
            <a:off x="888450" y="3832025"/>
            <a:ext cx="418800" cy="418800"/>
          </a:xfrm>
          <a:prstGeom prst="ellipse">
            <a:avLst/>
          </a:prstGeom>
          <a:noFill/>
          <a:ln>
            <a:noFill/>
          </a:ln>
        </p:spPr>
      </p:sp>
      <p:sp>
        <p:nvSpPr>
          <p:cNvPr id="309" name="Google Shape;309;p25"/>
          <p:cNvSpPr/>
          <p:nvPr>
            <p:ph idx="19" type="pic"/>
          </p:nvPr>
        </p:nvSpPr>
        <p:spPr>
          <a:xfrm>
            <a:off x="1307025" y="3832025"/>
            <a:ext cx="418800" cy="418800"/>
          </a:xfrm>
          <a:prstGeom prst="ellipse">
            <a:avLst/>
          </a:prstGeom>
          <a:noFill/>
          <a:ln>
            <a:noFill/>
          </a:ln>
        </p:spPr>
      </p:sp>
      <p:sp>
        <p:nvSpPr>
          <p:cNvPr id="310" name="Google Shape;310;p25"/>
          <p:cNvSpPr/>
          <p:nvPr>
            <p:ph idx="20" type="pic"/>
          </p:nvPr>
        </p:nvSpPr>
        <p:spPr>
          <a:xfrm>
            <a:off x="469875" y="4250600"/>
            <a:ext cx="418800" cy="418800"/>
          </a:xfrm>
          <a:prstGeom prst="ellipse">
            <a:avLst/>
          </a:prstGeom>
          <a:noFill/>
          <a:ln>
            <a:noFill/>
          </a:ln>
        </p:spPr>
      </p:sp>
      <p:sp>
        <p:nvSpPr>
          <p:cNvPr id="311" name="Google Shape;311;p25"/>
          <p:cNvSpPr/>
          <p:nvPr>
            <p:ph idx="21" type="pic"/>
          </p:nvPr>
        </p:nvSpPr>
        <p:spPr>
          <a:xfrm>
            <a:off x="888450" y="4250600"/>
            <a:ext cx="418800" cy="418800"/>
          </a:xfrm>
          <a:prstGeom prst="ellipse">
            <a:avLst/>
          </a:prstGeom>
          <a:noFill/>
          <a:ln>
            <a:noFill/>
          </a:ln>
        </p:spPr>
      </p:sp>
      <p:sp>
        <p:nvSpPr>
          <p:cNvPr id="312" name="Google Shape;312;p25"/>
          <p:cNvSpPr/>
          <p:nvPr>
            <p:ph idx="22" type="pic"/>
          </p:nvPr>
        </p:nvSpPr>
        <p:spPr>
          <a:xfrm>
            <a:off x="1307025" y="4250600"/>
            <a:ext cx="418800" cy="418800"/>
          </a:xfrm>
          <a:prstGeom prst="ellipse">
            <a:avLst/>
          </a:prstGeom>
          <a:noFill/>
          <a:ln>
            <a:noFill/>
          </a:ln>
        </p:spPr>
      </p:sp>
      <p:sp>
        <p:nvSpPr>
          <p:cNvPr id="313" name="Google Shape;313;p25"/>
          <p:cNvSpPr/>
          <p:nvPr>
            <p:ph idx="23" type="pic"/>
          </p:nvPr>
        </p:nvSpPr>
        <p:spPr>
          <a:xfrm>
            <a:off x="3330700" y="3832025"/>
            <a:ext cx="418800" cy="418800"/>
          </a:xfrm>
          <a:prstGeom prst="ellipse">
            <a:avLst/>
          </a:prstGeom>
          <a:noFill/>
          <a:ln>
            <a:noFill/>
          </a:ln>
        </p:spPr>
      </p:sp>
      <p:sp>
        <p:nvSpPr>
          <p:cNvPr id="314" name="Google Shape;314;p25"/>
          <p:cNvSpPr/>
          <p:nvPr>
            <p:ph idx="24" type="pic"/>
          </p:nvPr>
        </p:nvSpPr>
        <p:spPr>
          <a:xfrm>
            <a:off x="3749275" y="3832025"/>
            <a:ext cx="418800" cy="418800"/>
          </a:xfrm>
          <a:prstGeom prst="ellipse">
            <a:avLst/>
          </a:prstGeom>
          <a:noFill/>
          <a:ln>
            <a:noFill/>
          </a:ln>
        </p:spPr>
      </p:sp>
      <p:sp>
        <p:nvSpPr>
          <p:cNvPr id="315" name="Google Shape;315;p25"/>
          <p:cNvSpPr/>
          <p:nvPr>
            <p:ph idx="25" type="pic"/>
          </p:nvPr>
        </p:nvSpPr>
        <p:spPr>
          <a:xfrm>
            <a:off x="4167850" y="3832025"/>
            <a:ext cx="418800" cy="418800"/>
          </a:xfrm>
          <a:prstGeom prst="ellipse">
            <a:avLst/>
          </a:prstGeom>
          <a:noFill/>
          <a:ln>
            <a:noFill/>
          </a:ln>
        </p:spPr>
      </p:sp>
      <p:sp>
        <p:nvSpPr>
          <p:cNvPr id="316" name="Google Shape;316;p25"/>
          <p:cNvSpPr/>
          <p:nvPr>
            <p:ph idx="26" type="pic"/>
          </p:nvPr>
        </p:nvSpPr>
        <p:spPr>
          <a:xfrm>
            <a:off x="3330700" y="4250600"/>
            <a:ext cx="418800" cy="418800"/>
          </a:xfrm>
          <a:prstGeom prst="ellipse">
            <a:avLst/>
          </a:prstGeom>
          <a:noFill/>
          <a:ln>
            <a:noFill/>
          </a:ln>
        </p:spPr>
      </p:sp>
      <p:sp>
        <p:nvSpPr>
          <p:cNvPr id="317" name="Google Shape;317;p25"/>
          <p:cNvSpPr/>
          <p:nvPr>
            <p:ph idx="27" type="pic"/>
          </p:nvPr>
        </p:nvSpPr>
        <p:spPr>
          <a:xfrm>
            <a:off x="3749275" y="4250600"/>
            <a:ext cx="418800" cy="418800"/>
          </a:xfrm>
          <a:prstGeom prst="ellipse">
            <a:avLst/>
          </a:prstGeom>
          <a:noFill/>
          <a:ln>
            <a:noFill/>
          </a:ln>
        </p:spPr>
      </p:sp>
      <p:sp>
        <p:nvSpPr>
          <p:cNvPr id="318" name="Google Shape;318;p25"/>
          <p:cNvSpPr/>
          <p:nvPr>
            <p:ph idx="28" type="pic"/>
          </p:nvPr>
        </p:nvSpPr>
        <p:spPr>
          <a:xfrm>
            <a:off x="4167850" y="4250600"/>
            <a:ext cx="418800" cy="418800"/>
          </a:xfrm>
          <a:prstGeom prst="ellipse">
            <a:avLst/>
          </a:prstGeom>
          <a:noFill/>
          <a:ln>
            <a:noFill/>
          </a:ln>
        </p:spPr>
      </p:sp>
      <p:sp>
        <p:nvSpPr>
          <p:cNvPr id="319" name="Google Shape;319;p25"/>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0" name="Google Shape;320;p25"/>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1" name="Google Shape;321;p25"/>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2" name="Google Shape;322;p25"/>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3" name="Google Shape;323;p25"/>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24" name="Google Shape;324;p2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5" name="Google Shape;325;p25"/>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6" name="Google Shape;326;p25"/>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27" name="Google Shape;327;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28" name="Shape 328"/>
        <p:cNvGrpSpPr/>
        <p:nvPr/>
      </p:nvGrpSpPr>
      <p:grpSpPr>
        <a:xfrm>
          <a:off x="0" y="0"/>
          <a:ext cx="0" cy="0"/>
          <a:chOff x="0" y="0"/>
          <a:chExt cx="0" cy="0"/>
        </a:xfrm>
      </p:grpSpPr>
      <p:pic>
        <p:nvPicPr>
          <p:cNvPr id="329" name="Google Shape;329;p26"/>
          <p:cNvPicPr preferRelativeResize="0"/>
          <p:nvPr/>
        </p:nvPicPr>
        <p:blipFill rotWithShape="1">
          <a:blip r:embed="rId2">
            <a:alphaModFix/>
          </a:blip>
          <a:srcRect b="39661" l="32511" r="27293" t="0"/>
          <a:stretch/>
        </p:blipFill>
        <p:spPr>
          <a:xfrm>
            <a:off x="1701300" y="1641428"/>
            <a:ext cx="653100" cy="653400"/>
          </a:xfrm>
          <a:prstGeom prst="ellipse">
            <a:avLst/>
          </a:prstGeom>
          <a:noFill/>
          <a:ln>
            <a:noFill/>
          </a:ln>
        </p:spPr>
      </p:pic>
      <p:sp>
        <p:nvSpPr>
          <p:cNvPr id="330" name="Google Shape;330;p26"/>
          <p:cNvSpPr/>
          <p:nvPr>
            <p:ph idx="2" type="pic"/>
          </p:nvPr>
        </p:nvSpPr>
        <p:spPr>
          <a:xfrm>
            <a:off x="1701300" y="1641575"/>
            <a:ext cx="653100" cy="653100"/>
          </a:xfrm>
          <a:prstGeom prst="ellipse">
            <a:avLst/>
          </a:prstGeom>
          <a:noFill/>
          <a:ln>
            <a:noFill/>
          </a:ln>
        </p:spPr>
      </p:sp>
      <p:sp>
        <p:nvSpPr>
          <p:cNvPr id="331" name="Google Shape;331;p26"/>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32" name="Google Shape;332;p26"/>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33" name="Google Shape;333;p26"/>
          <p:cNvPicPr preferRelativeResize="0"/>
          <p:nvPr/>
        </p:nvPicPr>
        <p:blipFill rotWithShape="1">
          <a:blip r:embed="rId2">
            <a:alphaModFix/>
          </a:blip>
          <a:srcRect b="39661" l="32511" r="27293" t="0"/>
          <a:stretch/>
        </p:blipFill>
        <p:spPr>
          <a:xfrm>
            <a:off x="4206300" y="1641428"/>
            <a:ext cx="653100" cy="653400"/>
          </a:xfrm>
          <a:prstGeom prst="ellipse">
            <a:avLst/>
          </a:prstGeom>
          <a:noFill/>
          <a:ln>
            <a:noFill/>
          </a:ln>
        </p:spPr>
      </p:pic>
      <p:sp>
        <p:nvSpPr>
          <p:cNvPr id="334" name="Google Shape;334;p26"/>
          <p:cNvSpPr/>
          <p:nvPr>
            <p:ph idx="4" type="pic"/>
          </p:nvPr>
        </p:nvSpPr>
        <p:spPr>
          <a:xfrm>
            <a:off x="4206300" y="1641575"/>
            <a:ext cx="653100" cy="653100"/>
          </a:xfrm>
          <a:prstGeom prst="ellipse">
            <a:avLst/>
          </a:prstGeom>
          <a:noFill/>
          <a:ln>
            <a:noFill/>
          </a:ln>
        </p:spPr>
      </p:sp>
      <p:sp>
        <p:nvSpPr>
          <p:cNvPr id="335" name="Google Shape;335;p26"/>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36" name="Google Shape;336;p26"/>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37" name="Google Shape;337;p26"/>
          <p:cNvPicPr preferRelativeResize="0"/>
          <p:nvPr/>
        </p:nvPicPr>
        <p:blipFill rotWithShape="1">
          <a:blip r:embed="rId2">
            <a:alphaModFix/>
          </a:blip>
          <a:srcRect b="39661" l="32511" r="27293" t="0"/>
          <a:stretch/>
        </p:blipFill>
        <p:spPr>
          <a:xfrm>
            <a:off x="6711300" y="1641428"/>
            <a:ext cx="653100" cy="653400"/>
          </a:xfrm>
          <a:prstGeom prst="ellipse">
            <a:avLst/>
          </a:prstGeom>
          <a:noFill/>
          <a:ln>
            <a:noFill/>
          </a:ln>
        </p:spPr>
      </p:pic>
      <p:sp>
        <p:nvSpPr>
          <p:cNvPr id="338" name="Google Shape;338;p26"/>
          <p:cNvSpPr/>
          <p:nvPr>
            <p:ph idx="7" type="pic"/>
          </p:nvPr>
        </p:nvSpPr>
        <p:spPr>
          <a:xfrm>
            <a:off x="6711300" y="1641575"/>
            <a:ext cx="653100" cy="653100"/>
          </a:xfrm>
          <a:prstGeom prst="ellipse">
            <a:avLst/>
          </a:prstGeom>
          <a:noFill/>
          <a:ln>
            <a:noFill/>
          </a:ln>
        </p:spPr>
      </p:sp>
      <p:sp>
        <p:nvSpPr>
          <p:cNvPr id="339" name="Google Shape;339;p26"/>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0" name="Google Shape;340;p26"/>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1" name="Google Shape;341;p26"/>
          <p:cNvPicPr preferRelativeResize="0"/>
          <p:nvPr/>
        </p:nvPicPr>
        <p:blipFill rotWithShape="1">
          <a:blip r:embed="rId2">
            <a:alphaModFix/>
          </a:blip>
          <a:srcRect b="39661" l="32511" r="27293" t="0"/>
          <a:stretch/>
        </p:blipFill>
        <p:spPr>
          <a:xfrm>
            <a:off x="1701300" y="2749328"/>
            <a:ext cx="653100" cy="653400"/>
          </a:xfrm>
          <a:prstGeom prst="ellipse">
            <a:avLst/>
          </a:prstGeom>
          <a:noFill/>
          <a:ln>
            <a:noFill/>
          </a:ln>
        </p:spPr>
      </p:pic>
      <p:sp>
        <p:nvSpPr>
          <p:cNvPr id="342" name="Google Shape;342;p26"/>
          <p:cNvSpPr/>
          <p:nvPr>
            <p:ph idx="13" type="pic"/>
          </p:nvPr>
        </p:nvSpPr>
        <p:spPr>
          <a:xfrm>
            <a:off x="1701300" y="2749475"/>
            <a:ext cx="653100" cy="653100"/>
          </a:xfrm>
          <a:prstGeom prst="ellipse">
            <a:avLst/>
          </a:prstGeom>
          <a:noFill/>
          <a:ln>
            <a:noFill/>
          </a:ln>
        </p:spPr>
      </p:sp>
      <p:sp>
        <p:nvSpPr>
          <p:cNvPr id="343" name="Google Shape;343;p26"/>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44" name="Google Shape;344;p26"/>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45" name="Google Shape;345;p26"/>
          <p:cNvPicPr preferRelativeResize="0"/>
          <p:nvPr/>
        </p:nvPicPr>
        <p:blipFill rotWithShape="1">
          <a:blip r:embed="rId2">
            <a:alphaModFix/>
          </a:blip>
          <a:srcRect b="39661" l="32511" r="27293" t="0"/>
          <a:stretch/>
        </p:blipFill>
        <p:spPr>
          <a:xfrm>
            <a:off x="4206300" y="2749328"/>
            <a:ext cx="653100" cy="653400"/>
          </a:xfrm>
          <a:prstGeom prst="ellipse">
            <a:avLst/>
          </a:prstGeom>
          <a:noFill/>
          <a:ln>
            <a:noFill/>
          </a:ln>
        </p:spPr>
      </p:pic>
      <p:sp>
        <p:nvSpPr>
          <p:cNvPr id="346" name="Google Shape;346;p26"/>
          <p:cNvSpPr/>
          <p:nvPr>
            <p:ph idx="16" type="pic"/>
          </p:nvPr>
        </p:nvSpPr>
        <p:spPr>
          <a:xfrm>
            <a:off x="4206300" y="2749475"/>
            <a:ext cx="653100" cy="653100"/>
          </a:xfrm>
          <a:prstGeom prst="ellipse">
            <a:avLst/>
          </a:prstGeom>
          <a:noFill/>
          <a:ln>
            <a:noFill/>
          </a:ln>
        </p:spPr>
      </p:sp>
      <p:sp>
        <p:nvSpPr>
          <p:cNvPr id="347" name="Google Shape;347;p26"/>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8" name="Google Shape;348;p26"/>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9" name="Google Shape;349;p26"/>
          <p:cNvPicPr preferRelativeResize="0"/>
          <p:nvPr/>
        </p:nvPicPr>
        <p:blipFill rotWithShape="1">
          <a:blip r:embed="rId2">
            <a:alphaModFix/>
          </a:blip>
          <a:srcRect b="39661" l="32511" r="27293" t="0"/>
          <a:stretch/>
        </p:blipFill>
        <p:spPr>
          <a:xfrm>
            <a:off x="6711300" y="2749328"/>
            <a:ext cx="653100" cy="653400"/>
          </a:xfrm>
          <a:prstGeom prst="ellipse">
            <a:avLst/>
          </a:prstGeom>
          <a:noFill/>
          <a:ln>
            <a:noFill/>
          </a:ln>
        </p:spPr>
      </p:pic>
      <p:sp>
        <p:nvSpPr>
          <p:cNvPr id="350" name="Google Shape;350;p26"/>
          <p:cNvSpPr/>
          <p:nvPr>
            <p:ph idx="19" type="pic"/>
          </p:nvPr>
        </p:nvSpPr>
        <p:spPr>
          <a:xfrm>
            <a:off x="6711300" y="2749475"/>
            <a:ext cx="653100" cy="653100"/>
          </a:xfrm>
          <a:prstGeom prst="ellipse">
            <a:avLst/>
          </a:prstGeom>
          <a:noFill/>
          <a:ln>
            <a:noFill/>
          </a:ln>
        </p:spPr>
      </p:sp>
      <p:sp>
        <p:nvSpPr>
          <p:cNvPr id="351" name="Google Shape;351;p26"/>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52" name="Google Shape;352;p26"/>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53" name="Google Shape;353;p26"/>
          <p:cNvPicPr preferRelativeResize="0"/>
          <p:nvPr/>
        </p:nvPicPr>
        <p:blipFill rotWithShape="1">
          <a:blip r:embed="rId2">
            <a:alphaModFix/>
          </a:blip>
          <a:srcRect b="39661" l="32511" r="27293" t="0"/>
          <a:stretch/>
        </p:blipFill>
        <p:spPr>
          <a:xfrm>
            <a:off x="1701300" y="3857228"/>
            <a:ext cx="653100" cy="653400"/>
          </a:xfrm>
          <a:prstGeom prst="ellipse">
            <a:avLst/>
          </a:prstGeom>
          <a:noFill/>
          <a:ln>
            <a:noFill/>
          </a:ln>
        </p:spPr>
      </p:pic>
      <p:sp>
        <p:nvSpPr>
          <p:cNvPr id="354" name="Google Shape;354;p26"/>
          <p:cNvSpPr/>
          <p:nvPr>
            <p:ph idx="22" type="pic"/>
          </p:nvPr>
        </p:nvSpPr>
        <p:spPr>
          <a:xfrm>
            <a:off x="1701300" y="3857375"/>
            <a:ext cx="653100" cy="653100"/>
          </a:xfrm>
          <a:prstGeom prst="ellipse">
            <a:avLst/>
          </a:prstGeom>
          <a:noFill/>
          <a:ln>
            <a:noFill/>
          </a:ln>
        </p:spPr>
      </p:sp>
      <p:sp>
        <p:nvSpPr>
          <p:cNvPr id="355" name="Google Shape;355;p26"/>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56" name="Google Shape;356;p26"/>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57" name="Google Shape;357;p26"/>
          <p:cNvPicPr preferRelativeResize="0"/>
          <p:nvPr/>
        </p:nvPicPr>
        <p:blipFill rotWithShape="1">
          <a:blip r:embed="rId2">
            <a:alphaModFix/>
          </a:blip>
          <a:srcRect b="39661" l="32511" r="27293" t="0"/>
          <a:stretch/>
        </p:blipFill>
        <p:spPr>
          <a:xfrm>
            <a:off x="4214044" y="3857228"/>
            <a:ext cx="653100" cy="653400"/>
          </a:xfrm>
          <a:prstGeom prst="ellipse">
            <a:avLst/>
          </a:prstGeom>
          <a:noFill/>
          <a:ln>
            <a:noFill/>
          </a:ln>
        </p:spPr>
      </p:pic>
      <p:sp>
        <p:nvSpPr>
          <p:cNvPr id="358" name="Google Shape;358;p26"/>
          <p:cNvSpPr/>
          <p:nvPr>
            <p:ph idx="25" type="pic"/>
          </p:nvPr>
        </p:nvSpPr>
        <p:spPr>
          <a:xfrm>
            <a:off x="4214044" y="3857375"/>
            <a:ext cx="653100" cy="653100"/>
          </a:xfrm>
          <a:prstGeom prst="ellipse">
            <a:avLst/>
          </a:prstGeom>
          <a:noFill/>
          <a:ln>
            <a:noFill/>
          </a:ln>
        </p:spPr>
      </p:sp>
      <p:sp>
        <p:nvSpPr>
          <p:cNvPr id="359" name="Google Shape;359;p26"/>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60" name="Google Shape;360;p26"/>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61" name="Google Shape;361;p26"/>
          <p:cNvPicPr preferRelativeResize="0"/>
          <p:nvPr/>
        </p:nvPicPr>
        <p:blipFill rotWithShape="1">
          <a:blip r:embed="rId2">
            <a:alphaModFix/>
          </a:blip>
          <a:srcRect b="39661" l="32511" r="27293" t="0"/>
          <a:stretch/>
        </p:blipFill>
        <p:spPr>
          <a:xfrm>
            <a:off x="6719044" y="3857228"/>
            <a:ext cx="653100" cy="653400"/>
          </a:xfrm>
          <a:prstGeom prst="ellipse">
            <a:avLst/>
          </a:prstGeom>
          <a:noFill/>
          <a:ln>
            <a:noFill/>
          </a:ln>
        </p:spPr>
      </p:pic>
      <p:sp>
        <p:nvSpPr>
          <p:cNvPr id="362" name="Google Shape;362;p26"/>
          <p:cNvSpPr/>
          <p:nvPr>
            <p:ph idx="28" type="pic"/>
          </p:nvPr>
        </p:nvSpPr>
        <p:spPr>
          <a:xfrm>
            <a:off x="6719044" y="3857375"/>
            <a:ext cx="653100" cy="653100"/>
          </a:xfrm>
          <a:prstGeom prst="ellipse">
            <a:avLst/>
          </a:prstGeom>
          <a:noFill/>
          <a:ln>
            <a:noFill/>
          </a:ln>
        </p:spPr>
      </p:sp>
      <p:sp>
        <p:nvSpPr>
          <p:cNvPr id="363" name="Google Shape;363;p26"/>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64" name="Google Shape;364;p26"/>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65" name="Google Shape;365;p2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66" name="Google Shape;366;p26"/>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7" name="Google Shape;367;p26"/>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26"/>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69" name="Google Shape;36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370" name="Shape 370"/>
        <p:cNvGrpSpPr/>
        <p:nvPr/>
      </p:nvGrpSpPr>
      <p:grpSpPr>
        <a:xfrm>
          <a:off x="0" y="0"/>
          <a:ext cx="0" cy="0"/>
          <a:chOff x="0" y="0"/>
          <a:chExt cx="0" cy="0"/>
        </a:xfrm>
      </p:grpSpPr>
      <p:sp>
        <p:nvSpPr>
          <p:cNvPr id="371" name="Google Shape;371;p27"/>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2" name="Google Shape;372;p27"/>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3" name="Google Shape;373;p27"/>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4" name="Google Shape;374;p27"/>
          <p:cNvSpPr/>
          <p:nvPr>
            <p:ph idx="4" type="pic"/>
          </p:nvPr>
        </p:nvSpPr>
        <p:spPr>
          <a:xfrm>
            <a:off x="1811447" y="1687497"/>
            <a:ext cx="653100" cy="653100"/>
          </a:xfrm>
          <a:prstGeom prst="ellipse">
            <a:avLst/>
          </a:prstGeom>
          <a:noFill/>
          <a:ln>
            <a:noFill/>
          </a:ln>
        </p:spPr>
      </p:sp>
      <p:sp>
        <p:nvSpPr>
          <p:cNvPr id="375" name="Google Shape;375;p27"/>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6" name="Google Shape;376;p27"/>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77" name="Google Shape;377;p27"/>
          <p:cNvSpPr/>
          <p:nvPr>
            <p:ph idx="7" type="pic"/>
          </p:nvPr>
        </p:nvSpPr>
        <p:spPr>
          <a:xfrm>
            <a:off x="1811447" y="2709697"/>
            <a:ext cx="653100" cy="653100"/>
          </a:xfrm>
          <a:prstGeom prst="ellipse">
            <a:avLst/>
          </a:prstGeom>
          <a:noFill/>
          <a:ln>
            <a:noFill/>
          </a:ln>
        </p:spPr>
      </p:sp>
      <p:sp>
        <p:nvSpPr>
          <p:cNvPr id="378" name="Google Shape;378;p27"/>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9" name="Google Shape;379;p27"/>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0" name="Google Shape;380;p27"/>
          <p:cNvSpPr/>
          <p:nvPr>
            <p:ph idx="13" type="pic"/>
          </p:nvPr>
        </p:nvSpPr>
        <p:spPr>
          <a:xfrm>
            <a:off x="1811447" y="3731897"/>
            <a:ext cx="653100" cy="653100"/>
          </a:xfrm>
          <a:prstGeom prst="ellipse">
            <a:avLst/>
          </a:prstGeom>
          <a:noFill/>
          <a:ln>
            <a:noFill/>
          </a:ln>
        </p:spPr>
      </p:sp>
      <p:sp>
        <p:nvSpPr>
          <p:cNvPr id="381" name="Google Shape;381;p27"/>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2" name="Google Shape;382;p27"/>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3" name="Google Shape;383;p27"/>
          <p:cNvSpPr/>
          <p:nvPr>
            <p:ph idx="16" type="pic"/>
          </p:nvPr>
        </p:nvSpPr>
        <p:spPr>
          <a:xfrm>
            <a:off x="4913135" y="1687497"/>
            <a:ext cx="653100" cy="653100"/>
          </a:xfrm>
          <a:prstGeom prst="ellipse">
            <a:avLst/>
          </a:prstGeom>
          <a:noFill/>
          <a:ln>
            <a:noFill/>
          </a:ln>
        </p:spPr>
      </p:sp>
      <p:sp>
        <p:nvSpPr>
          <p:cNvPr id="384" name="Google Shape;384;p27"/>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5" name="Google Shape;385;p27"/>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6" name="Google Shape;386;p27"/>
          <p:cNvSpPr/>
          <p:nvPr>
            <p:ph idx="19" type="pic"/>
          </p:nvPr>
        </p:nvSpPr>
        <p:spPr>
          <a:xfrm>
            <a:off x="4913135" y="2709697"/>
            <a:ext cx="653100" cy="653100"/>
          </a:xfrm>
          <a:prstGeom prst="ellipse">
            <a:avLst/>
          </a:prstGeom>
          <a:noFill/>
          <a:ln>
            <a:noFill/>
          </a:ln>
        </p:spPr>
      </p:sp>
      <p:sp>
        <p:nvSpPr>
          <p:cNvPr id="387" name="Google Shape;387;p27"/>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8" name="Google Shape;388;p27"/>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9" name="Google Shape;389;p27"/>
          <p:cNvSpPr/>
          <p:nvPr>
            <p:ph idx="22" type="pic"/>
          </p:nvPr>
        </p:nvSpPr>
        <p:spPr>
          <a:xfrm>
            <a:off x="4913135" y="3731897"/>
            <a:ext cx="653100" cy="653100"/>
          </a:xfrm>
          <a:prstGeom prst="ellipse">
            <a:avLst/>
          </a:prstGeom>
          <a:noFill/>
          <a:ln>
            <a:noFill/>
          </a:ln>
        </p:spPr>
      </p:sp>
      <p:sp>
        <p:nvSpPr>
          <p:cNvPr id="390" name="Google Shape;390;p27"/>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1" name="Google Shape;391;p27"/>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92" name="Google Shape;392;p27"/>
          <p:cNvSpPr/>
          <p:nvPr>
            <p:ph idx="25" type="pic"/>
          </p:nvPr>
        </p:nvSpPr>
        <p:spPr>
          <a:xfrm>
            <a:off x="7877122" y="1687497"/>
            <a:ext cx="653100" cy="653100"/>
          </a:xfrm>
          <a:prstGeom prst="ellipse">
            <a:avLst/>
          </a:prstGeom>
          <a:noFill/>
          <a:ln>
            <a:noFill/>
          </a:ln>
        </p:spPr>
      </p:sp>
      <p:sp>
        <p:nvSpPr>
          <p:cNvPr id="393" name="Google Shape;393;p27"/>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4" name="Google Shape;394;p27"/>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5" name="Google Shape;395;p27"/>
          <p:cNvSpPr/>
          <p:nvPr>
            <p:ph idx="28" type="pic"/>
          </p:nvPr>
        </p:nvSpPr>
        <p:spPr>
          <a:xfrm>
            <a:off x="7877122" y="2709697"/>
            <a:ext cx="653100" cy="653100"/>
          </a:xfrm>
          <a:prstGeom prst="ellipse">
            <a:avLst/>
          </a:prstGeom>
          <a:noFill/>
          <a:ln>
            <a:noFill/>
          </a:ln>
        </p:spPr>
      </p:sp>
      <p:sp>
        <p:nvSpPr>
          <p:cNvPr id="396" name="Google Shape;396;p27"/>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7" name="Google Shape;397;p27"/>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8" name="Google Shape;398;p27"/>
          <p:cNvSpPr/>
          <p:nvPr>
            <p:ph idx="31" type="pic"/>
          </p:nvPr>
        </p:nvSpPr>
        <p:spPr>
          <a:xfrm>
            <a:off x="7877122" y="3731897"/>
            <a:ext cx="653100" cy="653100"/>
          </a:xfrm>
          <a:prstGeom prst="ellipse">
            <a:avLst/>
          </a:prstGeom>
          <a:noFill/>
          <a:ln>
            <a:noFill/>
          </a:ln>
        </p:spPr>
      </p:sp>
      <p:sp>
        <p:nvSpPr>
          <p:cNvPr id="399" name="Google Shape;399;p27"/>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0" name="Google Shape;400;p27"/>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01" name="Google Shape;401;p2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02" name="Google Shape;402;p27"/>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3" name="Google Shape;403;p27"/>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4" name="Google Shape;404;p27"/>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5" name="Google Shape;405;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06" name="Shape 406"/>
        <p:cNvGrpSpPr/>
        <p:nvPr/>
      </p:nvGrpSpPr>
      <p:grpSpPr>
        <a:xfrm>
          <a:off x="0" y="0"/>
          <a:ext cx="0" cy="0"/>
          <a:chOff x="0" y="0"/>
          <a:chExt cx="0" cy="0"/>
        </a:xfrm>
      </p:grpSpPr>
      <p:sp>
        <p:nvSpPr>
          <p:cNvPr id="407" name="Google Shape;407;p28"/>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08" name="Google Shape;408;p2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9" name="Google Shape;409;p2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0" name="Google Shape;410;p2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1" name="Google Shape;411;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12" name="Shape 412"/>
        <p:cNvGrpSpPr/>
        <p:nvPr/>
      </p:nvGrpSpPr>
      <p:grpSpPr>
        <a:xfrm>
          <a:off x="0" y="0"/>
          <a:ext cx="0" cy="0"/>
          <a:chOff x="0" y="0"/>
          <a:chExt cx="0" cy="0"/>
        </a:xfrm>
      </p:grpSpPr>
      <p:sp>
        <p:nvSpPr>
          <p:cNvPr id="413" name="Google Shape;413;p29"/>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4" name="Google Shape;414;p29"/>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5" name="Google Shape;415;p29"/>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6" name="Google Shape;416;p29"/>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7" name="Google Shape;417;p29"/>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8" name="Google Shape;418;p29"/>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9" name="Google Shape;419;p2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20" name="Google Shape;420;p29"/>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1" name="Google Shape;421;p29"/>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2" name="Google Shape;422;p29"/>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23" name="Google Shape;423;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24" name="Shape 424"/>
        <p:cNvGrpSpPr/>
        <p:nvPr/>
      </p:nvGrpSpPr>
      <p:grpSpPr>
        <a:xfrm>
          <a:off x="0" y="0"/>
          <a:ext cx="0" cy="0"/>
          <a:chOff x="0" y="0"/>
          <a:chExt cx="0" cy="0"/>
        </a:xfrm>
      </p:grpSpPr>
      <p:sp>
        <p:nvSpPr>
          <p:cNvPr id="425" name="Google Shape;425;p30"/>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6" name="Google Shape;426;p30"/>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7" name="Google Shape;427;p30"/>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8" name="Google Shape;428;p30"/>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9" name="Google Shape;429;p30"/>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0" name="Google Shape;430;p30"/>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1" name="Google Shape;431;p30"/>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32" name="Google Shape;432;p30"/>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3" name="Google Shape;433;p30"/>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4" name="Google Shape;434;p30"/>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5" name="Google Shape;435;p30"/>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6" name="Google Shape;436;p30"/>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7" name="Google Shape;437;p30"/>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8" name="Google Shape;438;p3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39" name="Google Shape;439;p3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0" name="Google Shape;440;p3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41" name="Google Shape;441;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42" name="Shape 442"/>
        <p:cNvGrpSpPr/>
        <p:nvPr/>
      </p:nvGrpSpPr>
      <p:grpSpPr>
        <a:xfrm>
          <a:off x="0" y="0"/>
          <a:ext cx="0" cy="0"/>
          <a:chOff x="0" y="0"/>
          <a:chExt cx="0" cy="0"/>
        </a:xfrm>
      </p:grpSpPr>
      <p:sp>
        <p:nvSpPr>
          <p:cNvPr id="443" name="Google Shape;443;p31"/>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4" name="Google Shape;444;p31"/>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5" name="Google Shape;445;p31"/>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6" name="Google Shape;446;p31"/>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7" name="Google Shape;447;p31"/>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8" name="Google Shape;448;p31"/>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49" name="Google Shape;449;p31"/>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0" name="Google Shape;450;p31"/>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1" name="Google Shape;451;p31"/>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2" name="Google Shape;452;p31"/>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3" name="Google Shape;453;p31"/>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4" name="Google Shape;454;p31"/>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5" name="Google Shape;455;p31"/>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6" name="Google Shape;456;p31"/>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7" name="Google Shape;457;p31"/>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8" name="Google Shape;458;p31"/>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9" name="Google Shape;459;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460" name="Shape 460"/>
        <p:cNvGrpSpPr/>
        <p:nvPr/>
      </p:nvGrpSpPr>
      <p:grpSpPr>
        <a:xfrm>
          <a:off x="0" y="0"/>
          <a:ext cx="0" cy="0"/>
          <a:chOff x="0" y="0"/>
          <a:chExt cx="0" cy="0"/>
        </a:xfrm>
      </p:grpSpPr>
      <p:sp>
        <p:nvSpPr>
          <p:cNvPr id="461" name="Google Shape;461;p32"/>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2" name="Google Shape;462;p32"/>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463" name="Google Shape;463;p32"/>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4" name="Google Shape;464;p32"/>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5" name="Google Shape;465;p32"/>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6" name="Google Shape;466;p32"/>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7" name="Google Shape;467;p32"/>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468" name="Google Shape;468;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69" name="Shape 469"/>
        <p:cNvGrpSpPr/>
        <p:nvPr/>
      </p:nvGrpSpPr>
      <p:grpSpPr>
        <a:xfrm>
          <a:off x="0" y="0"/>
          <a:ext cx="0" cy="0"/>
          <a:chOff x="0" y="0"/>
          <a:chExt cx="0" cy="0"/>
        </a:xfrm>
      </p:grpSpPr>
      <p:sp>
        <p:nvSpPr>
          <p:cNvPr id="470" name="Google Shape;470;p33"/>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1" name="Google Shape;471;p33"/>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72" name="Shape 472"/>
        <p:cNvGrpSpPr/>
        <p:nvPr/>
      </p:nvGrpSpPr>
      <p:grpSpPr>
        <a:xfrm>
          <a:off x="0" y="0"/>
          <a:ext cx="0" cy="0"/>
          <a:chOff x="0" y="0"/>
          <a:chExt cx="0" cy="0"/>
        </a:xfrm>
      </p:grpSpPr>
      <p:sp>
        <p:nvSpPr>
          <p:cNvPr id="473" name="Google Shape;473;p34"/>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74" name="Shape 474"/>
        <p:cNvGrpSpPr/>
        <p:nvPr/>
      </p:nvGrpSpPr>
      <p:grpSpPr>
        <a:xfrm>
          <a:off x="0" y="0"/>
          <a:ext cx="0" cy="0"/>
          <a:chOff x="0" y="0"/>
          <a:chExt cx="0" cy="0"/>
        </a:xfrm>
      </p:grpSpPr>
      <p:sp>
        <p:nvSpPr>
          <p:cNvPr id="475" name="Google Shape;475;p3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6" name="Google Shape;476;p35"/>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77" name="Shape 477"/>
        <p:cNvGrpSpPr/>
        <p:nvPr/>
      </p:nvGrpSpPr>
      <p:grpSpPr>
        <a:xfrm>
          <a:off x="0" y="0"/>
          <a:ext cx="0" cy="0"/>
          <a:chOff x="0" y="0"/>
          <a:chExt cx="0" cy="0"/>
        </a:xfrm>
      </p:grpSpPr>
      <p:sp>
        <p:nvSpPr>
          <p:cNvPr id="478" name="Google Shape;478;p3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9" name="Google Shape;479;p36"/>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80" name="Google Shape;480;p36"/>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1" name="Shape 481"/>
        <p:cNvGrpSpPr/>
        <p:nvPr/>
      </p:nvGrpSpPr>
      <p:grpSpPr>
        <a:xfrm>
          <a:off x="0" y="0"/>
          <a:ext cx="0" cy="0"/>
          <a:chOff x="0" y="0"/>
          <a:chExt cx="0" cy="0"/>
        </a:xfrm>
      </p:grpSpPr>
      <p:sp>
        <p:nvSpPr>
          <p:cNvPr id="482" name="Google Shape;482;p3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83" name="Shape 483"/>
        <p:cNvGrpSpPr/>
        <p:nvPr/>
      </p:nvGrpSpPr>
      <p:grpSpPr>
        <a:xfrm>
          <a:off x="0" y="0"/>
          <a:ext cx="0" cy="0"/>
          <a:chOff x="0" y="0"/>
          <a:chExt cx="0" cy="0"/>
        </a:xfrm>
      </p:grpSpPr>
      <p:sp>
        <p:nvSpPr>
          <p:cNvPr id="484" name="Google Shape;484;p38"/>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5" name="Google Shape;485;p38"/>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86" name="Shape 486"/>
        <p:cNvGrpSpPr/>
        <p:nvPr/>
      </p:nvGrpSpPr>
      <p:grpSpPr>
        <a:xfrm>
          <a:off x="0" y="0"/>
          <a:ext cx="0" cy="0"/>
          <a:chOff x="0" y="0"/>
          <a:chExt cx="0" cy="0"/>
        </a:xfrm>
      </p:grpSpPr>
      <p:sp>
        <p:nvSpPr>
          <p:cNvPr id="487" name="Google Shape;487;p39"/>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88" name="Shape 488"/>
        <p:cNvGrpSpPr/>
        <p:nvPr/>
      </p:nvGrpSpPr>
      <p:grpSpPr>
        <a:xfrm>
          <a:off x="0" y="0"/>
          <a:ext cx="0" cy="0"/>
          <a:chOff x="0" y="0"/>
          <a:chExt cx="0" cy="0"/>
        </a:xfrm>
      </p:grpSpPr>
      <p:sp>
        <p:nvSpPr>
          <p:cNvPr id="489" name="Google Shape;489;p40"/>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0" name="Google Shape;490;p40"/>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91" name="Google Shape;491;p40"/>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92" name="Shape 492"/>
        <p:cNvGrpSpPr/>
        <p:nvPr/>
      </p:nvGrpSpPr>
      <p:grpSpPr>
        <a:xfrm>
          <a:off x="0" y="0"/>
          <a:ext cx="0" cy="0"/>
          <a:chOff x="0" y="0"/>
          <a:chExt cx="0" cy="0"/>
        </a:xfrm>
      </p:grpSpPr>
      <p:sp>
        <p:nvSpPr>
          <p:cNvPr id="493" name="Google Shape;493;p41"/>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94" name="Shape 494"/>
        <p:cNvGrpSpPr/>
        <p:nvPr/>
      </p:nvGrpSpPr>
      <p:grpSpPr>
        <a:xfrm>
          <a:off x="0" y="0"/>
          <a:ext cx="0" cy="0"/>
          <a:chOff x="0" y="0"/>
          <a:chExt cx="0" cy="0"/>
        </a:xfrm>
      </p:grpSpPr>
      <p:sp>
        <p:nvSpPr>
          <p:cNvPr id="495" name="Google Shape;495;p42"/>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6" name="Google Shape;496;p42"/>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97" name="Shape 49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98" name="Shape 498"/>
        <p:cNvGrpSpPr/>
        <p:nvPr/>
      </p:nvGrpSpPr>
      <p:grpSpPr>
        <a:xfrm>
          <a:off x="0" y="0"/>
          <a:ext cx="0" cy="0"/>
          <a:chOff x="0" y="0"/>
          <a:chExt cx="0" cy="0"/>
        </a:xfrm>
      </p:grpSpPr>
      <p:sp>
        <p:nvSpPr>
          <p:cNvPr id="499" name="Google Shape;499;p44"/>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0" name="Google Shape;500;p4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1" name="Google Shape;501;p4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4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4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4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5" name="Google Shape;505;p4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06" name="Shape 506"/>
        <p:cNvGrpSpPr/>
        <p:nvPr/>
      </p:nvGrpSpPr>
      <p:grpSpPr>
        <a:xfrm>
          <a:off x="0" y="0"/>
          <a:ext cx="0" cy="0"/>
          <a:chOff x="0" y="0"/>
          <a:chExt cx="0" cy="0"/>
        </a:xfrm>
      </p:grpSpPr>
      <p:sp>
        <p:nvSpPr>
          <p:cNvPr id="507" name="Google Shape;507;p4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8" name="Google Shape;508;p45"/>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09" name="Google Shape;509;p4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10" name="Shape 510"/>
        <p:cNvGrpSpPr/>
        <p:nvPr/>
      </p:nvGrpSpPr>
      <p:grpSpPr>
        <a:xfrm>
          <a:off x="0" y="0"/>
          <a:ext cx="0" cy="0"/>
          <a:chOff x="0" y="0"/>
          <a:chExt cx="0" cy="0"/>
        </a:xfrm>
      </p:grpSpPr>
      <p:sp>
        <p:nvSpPr>
          <p:cNvPr id="511" name="Google Shape;511;p46"/>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2" name="Google Shape;512;p46"/>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3" name="Google Shape;513;p46"/>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4" name="Google Shape;514;p4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5" name="Google Shape;515;p4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16" name="Shape 516"/>
        <p:cNvGrpSpPr/>
        <p:nvPr/>
      </p:nvGrpSpPr>
      <p:grpSpPr>
        <a:xfrm>
          <a:off x="0" y="0"/>
          <a:ext cx="0" cy="0"/>
          <a:chOff x="0" y="0"/>
          <a:chExt cx="0" cy="0"/>
        </a:xfrm>
      </p:grpSpPr>
      <p:sp>
        <p:nvSpPr>
          <p:cNvPr id="517" name="Google Shape;517;p47"/>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8" name="Google Shape;518;p47"/>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9" name="Google Shape;519;p47"/>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0" name="Google Shape;520;p4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4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2" name="Google Shape;522;p4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3" name="Google Shape;523;p47"/>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24" name="Shape 524"/>
        <p:cNvGrpSpPr/>
        <p:nvPr/>
      </p:nvGrpSpPr>
      <p:grpSpPr>
        <a:xfrm>
          <a:off x="0" y="0"/>
          <a:ext cx="0" cy="0"/>
          <a:chOff x="0" y="0"/>
          <a:chExt cx="0" cy="0"/>
        </a:xfrm>
      </p:grpSpPr>
      <p:sp>
        <p:nvSpPr>
          <p:cNvPr id="525" name="Google Shape;525;p48"/>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6" name="Google Shape;526;p48"/>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7" name="Google Shape;527;p48"/>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8" name="Google Shape;528;p48"/>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9" name="Google Shape;529;p48"/>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0" name="Google Shape;530;p4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4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4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3" name="Google Shape;533;p4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34" name="Shape 534"/>
        <p:cNvGrpSpPr/>
        <p:nvPr/>
      </p:nvGrpSpPr>
      <p:grpSpPr>
        <a:xfrm>
          <a:off x="0" y="0"/>
          <a:ext cx="0" cy="0"/>
          <a:chOff x="0" y="0"/>
          <a:chExt cx="0" cy="0"/>
        </a:xfrm>
      </p:grpSpPr>
      <p:sp>
        <p:nvSpPr>
          <p:cNvPr id="535" name="Google Shape;535;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36" name="Google Shape;536;p4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37" name="Shape 537"/>
        <p:cNvGrpSpPr/>
        <p:nvPr/>
      </p:nvGrpSpPr>
      <p:grpSpPr>
        <a:xfrm>
          <a:off x="0" y="0"/>
          <a:ext cx="0" cy="0"/>
          <a:chOff x="0" y="0"/>
          <a:chExt cx="0" cy="0"/>
        </a:xfrm>
      </p:grpSpPr>
      <p:sp>
        <p:nvSpPr>
          <p:cNvPr id="538" name="Google Shape;538;p50"/>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39" name="Google Shape;539;p50"/>
          <p:cNvSpPr/>
          <p:nvPr>
            <p:ph idx="2" type="pic"/>
          </p:nvPr>
        </p:nvSpPr>
        <p:spPr>
          <a:xfrm>
            <a:off x="4804825" y="1133300"/>
            <a:ext cx="4027500" cy="2392800"/>
          </a:xfrm>
          <a:prstGeom prst="rect">
            <a:avLst/>
          </a:prstGeom>
          <a:noFill/>
          <a:ln>
            <a:noFill/>
          </a:ln>
        </p:spPr>
      </p:sp>
      <p:sp>
        <p:nvSpPr>
          <p:cNvPr id="540" name="Google Shape;540;p50"/>
          <p:cNvSpPr/>
          <p:nvPr>
            <p:ph idx="3" type="pic"/>
          </p:nvPr>
        </p:nvSpPr>
        <p:spPr>
          <a:xfrm>
            <a:off x="311725" y="1133300"/>
            <a:ext cx="4027500" cy="2392800"/>
          </a:xfrm>
          <a:prstGeom prst="rect">
            <a:avLst/>
          </a:prstGeom>
          <a:noFill/>
          <a:ln>
            <a:noFill/>
          </a:ln>
        </p:spPr>
      </p:sp>
      <p:sp>
        <p:nvSpPr>
          <p:cNvPr id="541" name="Google Shape;541;p50"/>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2" name="Google Shape;542;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3" name="Google Shape;543;p5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4" name="Google Shape;544;p5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45" name="Shape 545"/>
        <p:cNvGrpSpPr/>
        <p:nvPr/>
      </p:nvGrpSpPr>
      <p:grpSpPr>
        <a:xfrm>
          <a:off x="0" y="0"/>
          <a:ext cx="0" cy="0"/>
          <a:chOff x="0" y="0"/>
          <a:chExt cx="0" cy="0"/>
        </a:xfrm>
      </p:grpSpPr>
      <p:sp>
        <p:nvSpPr>
          <p:cNvPr id="546" name="Google Shape;546;p51"/>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7" name="Google Shape;547;p51"/>
          <p:cNvSpPr/>
          <p:nvPr>
            <p:ph idx="2" type="pic"/>
          </p:nvPr>
        </p:nvSpPr>
        <p:spPr>
          <a:xfrm>
            <a:off x="6205225" y="1128325"/>
            <a:ext cx="2627100" cy="2273100"/>
          </a:xfrm>
          <a:prstGeom prst="rect">
            <a:avLst/>
          </a:prstGeom>
          <a:noFill/>
          <a:ln>
            <a:noFill/>
          </a:ln>
        </p:spPr>
      </p:sp>
      <p:sp>
        <p:nvSpPr>
          <p:cNvPr id="548" name="Google Shape;548;p51"/>
          <p:cNvSpPr/>
          <p:nvPr>
            <p:ph idx="3" type="pic"/>
          </p:nvPr>
        </p:nvSpPr>
        <p:spPr>
          <a:xfrm>
            <a:off x="311725" y="1128325"/>
            <a:ext cx="2627100" cy="2273100"/>
          </a:xfrm>
          <a:prstGeom prst="rect">
            <a:avLst/>
          </a:prstGeom>
          <a:noFill/>
          <a:ln>
            <a:noFill/>
          </a:ln>
        </p:spPr>
      </p:sp>
      <p:sp>
        <p:nvSpPr>
          <p:cNvPr id="549" name="Google Shape;549;p51"/>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0" name="Google Shape;550;p51"/>
          <p:cNvSpPr/>
          <p:nvPr>
            <p:ph idx="5" type="pic"/>
          </p:nvPr>
        </p:nvSpPr>
        <p:spPr>
          <a:xfrm>
            <a:off x="3255250" y="1128325"/>
            <a:ext cx="2627100" cy="2273100"/>
          </a:xfrm>
          <a:prstGeom prst="rect">
            <a:avLst/>
          </a:prstGeom>
          <a:noFill/>
          <a:ln>
            <a:noFill/>
          </a:ln>
        </p:spPr>
      </p:sp>
      <p:sp>
        <p:nvSpPr>
          <p:cNvPr id="551" name="Google Shape;551;p51"/>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2" name="Google Shape;552;p5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4" name="Google Shape;554;p5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5" name="Google Shape;555;p5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56" name="Shape 556"/>
        <p:cNvGrpSpPr/>
        <p:nvPr/>
      </p:nvGrpSpPr>
      <p:grpSpPr>
        <a:xfrm>
          <a:off x="0" y="0"/>
          <a:ext cx="0" cy="0"/>
          <a:chOff x="0" y="0"/>
          <a:chExt cx="0" cy="0"/>
        </a:xfrm>
      </p:grpSpPr>
      <p:sp>
        <p:nvSpPr>
          <p:cNvPr id="557" name="Google Shape;557;p5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58" name="Shape 558"/>
        <p:cNvGrpSpPr/>
        <p:nvPr/>
      </p:nvGrpSpPr>
      <p:grpSpPr>
        <a:xfrm>
          <a:off x="0" y="0"/>
          <a:ext cx="0" cy="0"/>
          <a:chOff x="0" y="0"/>
          <a:chExt cx="0" cy="0"/>
        </a:xfrm>
      </p:grpSpPr>
      <p:sp>
        <p:nvSpPr>
          <p:cNvPr id="559" name="Google Shape;559;p53"/>
          <p:cNvSpPr/>
          <p:nvPr>
            <p:ph idx="2" type="pic"/>
          </p:nvPr>
        </p:nvSpPr>
        <p:spPr>
          <a:xfrm>
            <a:off x="3389600" y="118913"/>
            <a:ext cx="1643700" cy="1535100"/>
          </a:xfrm>
          <a:prstGeom prst="rect">
            <a:avLst/>
          </a:prstGeom>
          <a:noFill/>
          <a:ln>
            <a:noFill/>
          </a:ln>
        </p:spPr>
      </p:sp>
      <p:sp>
        <p:nvSpPr>
          <p:cNvPr id="560" name="Google Shape;560;p53"/>
          <p:cNvSpPr/>
          <p:nvPr>
            <p:ph idx="3" type="pic"/>
          </p:nvPr>
        </p:nvSpPr>
        <p:spPr>
          <a:xfrm>
            <a:off x="5195935" y="118913"/>
            <a:ext cx="1643700" cy="1535100"/>
          </a:xfrm>
          <a:prstGeom prst="rect">
            <a:avLst/>
          </a:prstGeom>
          <a:noFill/>
          <a:ln>
            <a:noFill/>
          </a:ln>
        </p:spPr>
      </p:sp>
      <p:sp>
        <p:nvSpPr>
          <p:cNvPr id="561" name="Google Shape;561;p53"/>
          <p:cNvSpPr/>
          <p:nvPr>
            <p:ph idx="4" type="pic"/>
          </p:nvPr>
        </p:nvSpPr>
        <p:spPr>
          <a:xfrm>
            <a:off x="7002270" y="118913"/>
            <a:ext cx="1643700" cy="1535100"/>
          </a:xfrm>
          <a:prstGeom prst="rect">
            <a:avLst/>
          </a:prstGeom>
          <a:noFill/>
          <a:ln>
            <a:noFill/>
          </a:ln>
        </p:spPr>
      </p:sp>
      <p:sp>
        <p:nvSpPr>
          <p:cNvPr id="562" name="Google Shape;562;p53"/>
          <p:cNvSpPr/>
          <p:nvPr>
            <p:ph idx="5" type="pic"/>
          </p:nvPr>
        </p:nvSpPr>
        <p:spPr>
          <a:xfrm>
            <a:off x="3389588" y="1804212"/>
            <a:ext cx="1643700" cy="1535100"/>
          </a:xfrm>
          <a:prstGeom prst="rect">
            <a:avLst/>
          </a:prstGeom>
          <a:noFill/>
          <a:ln>
            <a:noFill/>
          </a:ln>
        </p:spPr>
      </p:sp>
      <p:sp>
        <p:nvSpPr>
          <p:cNvPr id="563" name="Google Shape;563;p53"/>
          <p:cNvSpPr/>
          <p:nvPr>
            <p:ph idx="6" type="pic"/>
          </p:nvPr>
        </p:nvSpPr>
        <p:spPr>
          <a:xfrm>
            <a:off x="5195922" y="1804212"/>
            <a:ext cx="1643700" cy="1535100"/>
          </a:xfrm>
          <a:prstGeom prst="rect">
            <a:avLst/>
          </a:prstGeom>
          <a:noFill/>
          <a:ln>
            <a:noFill/>
          </a:ln>
        </p:spPr>
      </p:sp>
      <p:sp>
        <p:nvSpPr>
          <p:cNvPr id="564" name="Google Shape;564;p53"/>
          <p:cNvSpPr/>
          <p:nvPr>
            <p:ph idx="7" type="pic"/>
          </p:nvPr>
        </p:nvSpPr>
        <p:spPr>
          <a:xfrm>
            <a:off x="7002257" y="1804212"/>
            <a:ext cx="1643700" cy="1535100"/>
          </a:xfrm>
          <a:prstGeom prst="rect">
            <a:avLst/>
          </a:prstGeom>
          <a:noFill/>
          <a:ln>
            <a:noFill/>
          </a:ln>
        </p:spPr>
      </p:sp>
      <p:sp>
        <p:nvSpPr>
          <p:cNvPr id="565" name="Google Shape;565;p53"/>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66" name="Google Shape;566;p53"/>
          <p:cNvSpPr/>
          <p:nvPr>
            <p:ph idx="8" type="pic"/>
          </p:nvPr>
        </p:nvSpPr>
        <p:spPr>
          <a:xfrm>
            <a:off x="3389588" y="3489487"/>
            <a:ext cx="1643700" cy="1535100"/>
          </a:xfrm>
          <a:prstGeom prst="rect">
            <a:avLst/>
          </a:prstGeom>
          <a:noFill/>
          <a:ln>
            <a:noFill/>
          </a:ln>
        </p:spPr>
      </p:sp>
      <p:sp>
        <p:nvSpPr>
          <p:cNvPr id="567" name="Google Shape;567;p53"/>
          <p:cNvSpPr/>
          <p:nvPr>
            <p:ph idx="9" type="pic"/>
          </p:nvPr>
        </p:nvSpPr>
        <p:spPr>
          <a:xfrm>
            <a:off x="5195922" y="3489487"/>
            <a:ext cx="1643700" cy="1535100"/>
          </a:xfrm>
          <a:prstGeom prst="rect">
            <a:avLst/>
          </a:prstGeom>
          <a:noFill/>
          <a:ln>
            <a:noFill/>
          </a:ln>
        </p:spPr>
      </p:sp>
      <p:sp>
        <p:nvSpPr>
          <p:cNvPr id="568" name="Google Shape;568;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1.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 Id="rId3" Type="http://schemas.openxmlformats.org/officeDocument/2006/relationships/image" Target="../media/image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20.jpg"/><Relationship Id="rId4" Type="http://schemas.openxmlformats.org/officeDocument/2006/relationships/image" Target="../media/image2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4"/>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4400"/>
              <a:t>Research Presentation</a:t>
            </a:r>
            <a:endParaRPr sz="4400"/>
          </a:p>
        </p:txBody>
      </p:sp>
      <p:sp>
        <p:nvSpPr>
          <p:cNvPr id="574" name="Google Shape;574;p54"/>
          <p:cNvSpPr txBox="1"/>
          <p:nvPr/>
        </p:nvSpPr>
        <p:spPr>
          <a:xfrm>
            <a:off x="3279675" y="4658875"/>
            <a:ext cx="5332200" cy="3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Urbanist"/>
                <a:ea typeface="Urbanist"/>
                <a:cs typeface="Urbanist"/>
                <a:sym typeface="Urbanist"/>
              </a:rPr>
              <a:t>Gloria Jackson</a:t>
            </a:r>
            <a:endParaRPr sz="1100">
              <a:solidFill>
                <a:schemeClr val="lt1"/>
              </a:solidFill>
              <a:latin typeface="Urbanist"/>
              <a:ea typeface="Urbanist"/>
              <a:cs typeface="Urbanist"/>
              <a:sym typeface="Urbani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5"/>
          <p:cNvSpPr txBox="1"/>
          <p:nvPr>
            <p:ph idx="1" type="subTitle"/>
          </p:nvPr>
        </p:nvSpPr>
        <p:spPr>
          <a:xfrm>
            <a:off x="284700" y="2574275"/>
            <a:ext cx="5761500" cy="1853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500"/>
              <a:t>Based on what methods you use to determine the ancestral allele, what results do you get?</a:t>
            </a:r>
            <a:endParaRPr sz="2500"/>
          </a:p>
        </p:txBody>
      </p:sp>
      <p:sp>
        <p:nvSpPr>
          <p:cNvPr id="580" name="Google Shape;580;p55"/>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Research 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6"/>
          <p:cNvSpPr txBox="1"/>
          <p:nvPr>
            <p:ph type="title"/>
          </p:nvPr>
        </p:nvSpPr>
        <p:spPr>
          <a:xfrm>
            <a:off x="284700" y="142050"/>
            <a:ext cx="5622600" cy="6654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The Lozano Paper</a:t>
            </a:r>
            <a:endParaRPr/>
          </a:p>
        </p:txBody>
      </p:sp>
      <p:pic>
        <p:nvPicPr>
          <p:cNvPr id="586" name="Google Shape;586;p56" title="Screenshot 2026-04-07 at 11.39.27.png"/>
          <p:cNvPicPr preferRelativeResize="0"/>
          <p:nvPr/>
        </p:nvPicPr>
        <p:blipFill>
          <a:blip r:embed="rId3">
            <a:alphaModFix/>
          </a:blip>
          <a:stretch>
            <a:fillRect/>
          </a:stretch>
        </p:blipFill>
        <p:spPr>
          <a:xfrm>
            <a:off x="1122424" y="807450"/>
            <a:ext cx="5685950" cy="4043651"/>
          </a:xfrm>
          <a:prstGeom prst="rect">
            <a:avLst/>
          </a:prstGeom>
          <a:noFill/>
          <a:ln>
            <a:noFill/>
          </a:ln>
        </p:spPr>
      </p:pic>
      <p:sp>
        <p:nvSpPr>
          <p:cNvPr id="587" name="Google Shape;587;p56"/>
          <p:cNvSpPr txBox="1"/>
          <p:nvPr>
            <p:ph idx="4294967295" type="subTitle"/>
          </p:nvPr>
        </p:nvSpPr>
        <p:spPr>
          <a:xfrm>
            <a:off x="0" y="4851100"/>
            <a:ext cx="2114700" cy="558600"/>
          </a:xfrm>
          <a:prstGeom prst="rect">
            <a:avLst/>
          </a:prstGeom>
        </p:spPr>
        <p:txBody>
          <a:bodyPr anchorCtr="0" anchor="ctr" bIns="91425" lIns="91425" spcFirstLastPara="1" rIns="91425" wrap="square" tIns="91425">
            <a:normAutofit fontScale="40000" lnSpcReduction="20000"/>
          </a:bodyPr>
          <a:lstStyle/>
          <a:p>
            <a:pPr indent="0" lvl="0" marL="0" rtl="0" algn="l">
              <a:lnSpc>
                <a:spcPct val="115000"/>
              </a:lnSpc>
              <a:spcBef>
                <a:spcPts val="0"/>
              </a:spcBef>
              <a:spcAft>
                <a:spcPts val="0"/>
              </a:spcAft>
              <a:buNone/>
            </a:pPr>
            <a:r>
              <a:rPr lang="en" sz="1350">
                <a:latin typeface="Roboto"/>
                <a:ea typeface="Roboto"/>
                <a:cs typeface="Roboto"/>
                <a:sym typeface="Roboto"/>
              </a:rPr>
              <a:t>https://doi.org/10.1038/s41477-020-00834-5</a:t>
            </a:r>
            <a:endParaRPr sz="1350">
              <a:latin typeface="Roboto"/>
              <a:ea typeface="Roboto"/>
              <a:cs typeface="Roboto"/>
              <a:sym typeface="Roboto"/>
            </a:endParaRPr>
          </a:p>
          <a:p>
            <a:pPr indent="0" lvl="0" marL="0" rtl="0" algn="l">
              <a:spcBef>
                <a:spcPts val="18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7"/>
          <p:cNvSpPr txBox="1"/>
          <p:nvPr>
            <p:ph idx="1" type="subTitle"/>
          </p:nvPr>
        </p:nvSpPr>
        <p:spPr>
          <a:xfrm>
            <a:off x="5537976" y="2009900"/>
            <a:ext cx="3453600" cy="461700"/>
          </a:xfrm>
          <a:prstGeom prst="rect">
            <a:avLst/>
          </a:prstGeom>
        </p:spPr>
        <p:txBody>
          <a:bodyPr anchorCtr="0" anchor="t" bIns="0" lIns="0" spcFirstLastPara="1" rIns="91425" wrap="square" tIns="91425">
            <a:normAutofit/>
          </a:bodyPr>
          <a:lstStyle/>
          <a:p>
            <a:pPr indent="0" lvl="0" marL="0" rtl="0" algn="l">
              <a:spcBef>
                <a:spcPts val="0"/>
              </a:spcBef>
              <a:spcAft>
                <a:spcPts val="0"/>
              </a:spcAft>
              <a:buNone/>
            </a:pPr>
            <a:r>
              <a:rPr lang="en"/>
              <a:t>Use outgroup as ancestral</a:t>
            </a:r>
            <a:endParaRPr/>
          </a:p>
        </p:txBody>
      </p:sp>
      <p:sp>
        <p:nvSpPr>
          <p:cNvPr id="593" name="Google Shape;593;p57"/>
          <p:cNvSpPr txBox="1"/>
          <p:nvPr>
            <p:ph idx="3" type="subTitle"/>
          </p:nvPr>
        </p:nvSpPr>
        <p:spPr>
          <a:xfrm>
            <a:off x="5537976" y="2773363"/>
            <a:ext cx="3453600" cy="461700"/>
          </a:xfrm>
          <a:prstGeom prst="rect">
            <a:avLst/>
          </a:prstGeom>
        </p:spPr>
        <p:txBody>
          <a:bodyPr anchorCtr="0" anchor="t" bIns="0" lIns="0" spcFirstLastPara="1" rIns="91425" wrap="square" tIns="91425">
            <a:normAutofit/>
          </a:bodyPr>
          <a:lstStyle/>
          <a:p>
            <a:pPr indent="0" lvl="0" marL="0" rtl="0" algn="l">
              <a:spcBef>
                <a:spcPts val="0"/>
              </a:spcBef>
              <a:spcAft>
                <a:spcPts val="0"/>
              </a:spcAft>
              <a:buNone/>
            </a:pPr>
            <a:r>
              <a:rPr lang="en">
                <a:solidFill>
                  <a:srgbClr val="595959"/>
                </a:solidFill>
              </a:rPr>
              <a:t>Lozano paper pipeline</a:t>
            </a:r>
            <a:endParaRPr>
              <a:solidFill>
                <a:srgbClr val="595959"/>
              </a:solidFill>
            </a:endParaRPr>
          </a:p>
        </p:txBody>
      </p:sp>
      <p:sp>
        <p:nvSpPr>
          <p:cNvPr id="594" name="Google Shape;594;p57"/>
          <p:cNvSpPr txBox="1"/>
          <p:nvPr/>
        </p:nvSpPr>
        <p:spPr>
          <a:xfrm>
            <a:off x="4665825" y="2773750"/>
            <a:ext cx="522600" cy="58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595959"/>
                </a:solidFill>
                <a:latin typeface="Urbanist Medium"/>
                <a:ea typeface="Urbanist Medium"/>
                <a:cs typeface="Urbanist Medium"/>
                <a:sym typeface="Urbanist Medium"/>
              </a:rPr>
              <a:t>02.</a:t>
            </a:r>
            <a:endParaRPr sz="1800">
              <a:solidFill>
                <a:srgbClr val="595959"/>
              </a:solidFill>
              <a:latin typeface="Urbanist Medium"/>
              <a:ea typeface="Urbanist Medium"/>
              <a:cs typeface="Urbanist Medium"/>
              <a:sym typeface="Urbanist Medium"/>
            </a:endParaRPr>
          </a:p>
        </p:txBody>
      </p:sp>
      <p:sp>
        <p:nvSpPr>
          <p:cNvPr id="595" name="Google Shape;595;p57"/>
          <p:cNvSpPr txBox="1"/>
          <p:nvPr/>
        </p:nvSpPr>
        <p:spPr>
          <a:xfrm>
            <a:off x="4665825" y="2015840"/>
            <a:ext cx="522600" cy="58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Urbanist Medium"/>
                <a:ea typeface="Urbanist Medium"/>
                <a:cs typeface="Urbanist Medium"/>
                <a:sym typeface="Urbanist Medium"/>
              </a:rPr>
              <a:t>01</a:t>
            </a:r>
            <a:r>
              <a:rPr lang="en" sz="1800">
                <a:solidFill>
                  <a:schemeClr val="lt1"/>
                </a:solidFill>
                <a:latin typeface="Urbanist Medium"/>
                <a:ea typeface="Urbanist Medium"/>
                <a:cs typeface="Urbanist Medium"/>
                <a:sym typeface="Urbanist Medium"/>
              </a:rPr>
              <a:t>.</a:t>
            </a:r>
            <a:endParaRPr sz="1800">
              <a:solidFill>
                <a:schemeClr val="lt1"/>
              </a:solidFill>
              <a:latin typeface="Urbanist Medium"/>
              <a:ea typeface="Urbanist Medium"/>
              <a:cs typeface="Urbanist Medium"/>
              <a:sym typeface="Urbanist Medium"/>
            </a:endParaRPr>
          </a:p>
        </p:txBody>
      </p:sp>
      <p:sp>
        <p:nvSpPr>
          <p:cNvPr id="596" name="Google Shape;596;p57"/>
          <p:cNvSpPr txBox="1"/>
          <p:nvPr>
            <p:ph type="title"/>
          </p:nvPr>
        </p:nvSpPr>
        <p:spPr>
          <a:xfrm>
            <a:off x="1509325" y="2145725"/>
            <a:ext cx="29892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3700"/>
              <a:t>Polarization Methods</a:t>
            </a:r>
            <a:endParaRPr sz="3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8"/>
          <p:cNvSpPr txBox="1"/>
          <p:nvPr>
            <p:ph idx="16" type="subTitle"/>
          </p:nvPr>
        </p:nvSpPr>
        <p:spPr>
          <a:xfrm>
            <a:off x="474750" y="161275"/>
            <a:ext cx="7764000" cy="4089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sz="2500">
                <a:solidFill>
                  <a:schemeClr val="lt1"/>
                </a:solidFill>
              </a:rPr>
              <a:t>Using the outgroup as the ancestral allele</a:t>
            </a:r>
            <a:endParaRPr sz="2500">
              <a:solidFill>
                <a:schemeClr val="lt1"/>
              </a:solidFill>
            </a:endParaRPr>
          </a:p>
        </p:txBody>
      </p:sp>
      <p:pic>
        <p:nvPicPr>
          <p:cNvPr id="602" name="Google Shape;602;p58" title="Screenshot 2026-04-07 at 12.30.24.png"/>
          <p:cNvPicPr preferRelativeResize="0"/>
          <p:nvPr/>
        </p:nvPicPr>
        <p:blipFill>
          <a:blip r:embed="rId3">
            <a:alphaModFix/>
          </a:blip>
          <a:stretch>
            <a:fillRect/>
          </a:stretch>
        </p:blipFill>
        <p:spPr>
          <a:xfrm>
            <a:off x="1528275" y="744713"/>
            <a:ext cx="5346099" cy="4268526"/>
          </a:xfrm>
          <a:prstGeom prst="rect">
            <a:avLst/>
          </a:prstGeom>
          <a:noFill/>
          <a:ln>
            <a:noFill/>
          </a:ln>
        </p:spPr>
      </p:pic>
      <p:pic>
        <p:nvPicPr>
          <p:cNvPr id="603" name="Google Shape;603;p58" title="Screenshot 2026-04-07 at 12.31.04.png"/>
          <p:cNvPicPr preferRelativeResize="0"/>
          <p:nvPr/>
        </p:nvPicPr>
        <p:blipFill>
          <a:blip r:embed="rId4">
            <a:alphaModFix/>
          </a:blip>
          <a:stretch>
            <a:fillRect/>
          </a:stretch>
        </p:blipFill>
        <p:spPr>
          <a:xfrm>
            <a:off x="1528275" y="744725"/>
            <a:ext cx="5337724" cy="4268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9"/>
          <p:cNvSpPr txBox="1"/>
          <p:nvPr>
            <p:ph idx="1" type="subTitle"/>
          </p:nvPr>
        </p:nvSpPr>
        <p:spPr>
          <a:xfrm>
            <a:off x="5537976" y="2009900"/>
            <a:ext cx="3453600" cy="461700"/>
          </a:xfrm>
          <a:prstGeom prst="rect">
            <a:avLst/>
          </a:prstGeom>
        </p:spPr>
        <p:txBody>
          <a:bodyPr anchorCtr="0" anchor="t" bIns="0" lIns="0" spcFirstLastPara="1" rIns="91425" wrap="square" tIns="91425">
            <a:normAutofit/>
          </a:bodyPr>
          <a:lstStyle/>
          <a:p>
            <a:pPr indent="0" lvl="0" marL="0" rtl="0" algn="l">
              <a:spcBef>
                <a:spcPts val="0"/>
              </a:spcBef>
              <a:spcAft>
                <a:spcPts val="0"/>
              </a:spcAft>
              <a:buNone/>
            </a:pPr>
            <a:r>
              <a:rPr lang="en"/>
              <a:t>Use outgroup as ancestral</a:t>
            </a:r>
            <a:endParaRPr/>
          </a:p>
        </p:txBody>
      </p:sp>
      <p:sp>
        <p:nvSpPr>
          <p:cNvPr id="609" name="Google Shape;609;p59"/>
          <p:cNvSpPr txBox="1"/>
          <p:nvPr>
            <p:ph idx="3" type="subTitle"/>
          </p:nvPr>
        </p:nvSpPr>
        <p:spPr>
          <a:xfrm>
            <a:off x="5537976" y="2773363"/>
            <a:ext cx="3453600" cy="461700"/>
          </a:xfrm>
          <a:prstGeom prst="rect">
            <a:avLst/>
          </a:prstGeom>
        </p:spPr>
        <p:txBody>
          <a:bodyPr anchorCtr="0" anchor="t" bIns="0" lIns="0" spcFirstLastPara="1" rIns="91425" wrap="square" tIns="91425">
            <a:normAutofit/>
          </a:bodyPr>
          <a:lstStyle/>
          <a:p>
            <a:pPr indent="0" lvl="0" marL="0" rtl="0" algn="l">
              <a:spcBef>
                <a:spcPts val="0"/>
              </a:spcBef>
              <a:spcAft>
                <a:spcPts val="0"/>
              </a:spcAft>
              <a:buNone/>
            </a:pPr>
            <a:r>
              <a:rPr lang="en"/>
              <a:t>Lozano paper pipeline</a:t>
            </a:r>
            <a:endParaRPr/>
          </a:p>
        </p:txBody>
      </p:sp>
      <p:sp>
        <p:nvSpPr>
          <p:cNvPr id="610" name="Google Shape;610;p59"/>
          <p:cNvSpPr txBox="1"/>
          <p:nvPr/>
        </p:nvSpPr>
        <p:spPr>
          <a:xfrm>
            <a:off x="4665825" y="2773750"/>
            <a:ext cx="522600" cy="58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Urbanist Medium"/>
                <a:ea typeface="Urbanist Medium"/>
                <a:cs typeface="Urbanist Medium"/>
                <a:sym typeface="Urbanist Medium"/>
              </a:rPr>
              <a:t>02.</a:t>
            </a:r>
            <a:endParaRPr sz="1800">
              <a:solidFill>
                <a:schemeClr val="lt1"/>
              </a:solidFill>
              <a:latin typeface="Urbanist Medium"/>
              <a:ea typeface="Urbanist Medium"/>
              <a:cs typeface="Urbanist Medium"/>
              <a:sym typeface="Urbanist Medium"/>
            </a:endParaRPr>
          </a:p>
        </p:txBody>
      </p:sp>
      <p:sp>
        <p:nvSpPr>
          <p:cNvPr id="611" name="Google Shape;611;p59"/>
          <p:cNvSpPr txBox="1"/>
          <p:nvPr/>
        </p:nvSpPr>
        <p:spPr>
          <a:xfrm>
            <a:off x="4665825" y="2015840"/>
            <a:ext cx="522600" cy="58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Urbanist Medium"/>
                <a:ea typeface="Urbanist Medium"/>
                <a:cs typeface="Urbanist Medium"/>
                <a:sym typeface="Urbanist Medium"/>
              </a:rPr>
              <a:t>01.</a:t>
            </a:r>
            <a:endParaRPr sz="1800">
              <a:solidFill>
                <a:schemeClr val="lt1"/>
              </a:solidFill>
              <a:latin typeface="Urbanist Medium"/>
              <a:ea typeface="Urbanist Medium"/>
              <a:cs typeface="Urbanist Medium"/>
              <a:sym typeface="Urbanist Medium"/>
            </a:endParaRPr>
          </a:p>
        </p:txBody>
      </p:sp>
      <p:sp>
        <p:nvSpPr>
          <p:cNvPr id="612" name="Google Shape;612;p59"/>
          <p:cNvSpPr txBox="1"/>
          <p:nvPr>
            <p:ph type="title"/>
          </p:nvPr>
        </p:nvSpPr>
        <p:spPr>
          <a:xfrm>
            <a:off x="1509325" y="2145725"/>
            <a:ext cx="29892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3700"/>
              <a:t>Polarization Methods</a:t>
            </a:r>
            <a:endParaRPr sz="3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0" lang="en"/>
              <a:t>01. </a:t>
            </a:r>
            <a:r>
              <a:rPr lang="en"/>
              <a:t>Orthogroups</a:t>
            </a:r>
            <a:endParaRPr/>
          </a:p>
        </p:txBody>
      </p:sp>
      <p:sp>
        <p:nvSpPr>
          <p:cNvPr id="618" name="Google Shape;618;p60"/>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0" lang="en"/>
              <a:t>02. </a:t>
            </a:r>
            <a:r>
              <a:rPr lang="en"/>
              <a:t>Clustal Omega</a:t>
            </a:r>
            <a:endParaRPr/>
          </a:p>
        </p:txBody>
      </p:sp>
      <p:sp>
        <p:nvSpPr>
          <p:cNvPr id="619" name="Google Shape;619;p60"/>
          <p:cNvSpPr txBox="1"/>
          <p:nvPr>
            <p:ph idx="3" type="subTitle"/>
          </p:nvPr>
        </p:nvSpPr>
        <p:spPr>
          <a:xfrm>
            <a:off x="3406350" y="3268964"/>
            <a:ext cx="2331300" cy="89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0" lang="en"/>
              <a:t>03. </a:t>
            </a:r>
            <a:r>
              <a:rPr lang="en"/>
              <a:t>TranAlign</a:t>
            </a:r>
            <a:endParaRPr/>
          </a:p>
        </p:txBody>
      </p:sp>
      <p:sp>
        <p:nvSpPr>
          <p:cNvPr id="620" name="Google Shape;620;p60"/>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0" lang="en"/>
              <a:t>04. </a:t>
            </a:r>
            <a:r>
              <a:rPr lang="en"/>
              <a:t>Mapping </a:t>
            </a:r>
            <a:endParaRPr/>
          </a:p>
        </p:txBody>
      </p:sp>
      <p:sp>
        <p:nvSpPr>
          <p:cNvPr id="621" name="Google Shape;621;p60"/>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0" lang="en"/>
              <a:t>05. </a:t>
            </a:r>
            <a:r>
              <a:rPr lang="en"/>
              <a:t>est-sfs software</a:t>
            </a:r>
            <a:endParaRPr/>
          </a:p>
        </p:txBody>
      </p:sp>
      <p:cxnSp>
        <p:nvCxnSpPr>
          <p:cNvPr id="622" name="Google Shape;622;p60"/>
          <p:cNvCxnSpPr/>
          <p:nvPr/>
        </p:nvCxnSpPr>
        <p:spPr>
          <a:xfrm rot="10800000">
            <a:off x="5896563" y="1427825"/>
            <a:ext cx="0" cy="2964300"/>
          </a:xfrm>
          <a:prstGeom prst="straightConnector1">
            <a:avLst/>
          </a:prstGeom>
          <a:noFill/>
          <a:ln cap="flat" cmpd="sng" w="9525">
            <a:solidFill>
              <a:schemeClr val="lt2"/>
            </a:solidFill>
            <a:prstDash val="solid"/>
            <a:round/>
            <a:headEnd len="med" w="med" type="none"/>
            <a:tailEnd len="med" w="med" type="none"/>
          </a:ln>
        </p:spPr>
      </p:cxnSp>
      <p:sp>
        <p:nvSpPr>
          <p:cNvPr id="623" name="Google Shape;623;p60"/>
          <p:cNvSpPr txBox="1"/>
          <p:nvPr>
            <p:ph type="title"/>
          </p:nvPr>
        </p:nvSpPr>
        <p:spPr>
          <a:xfrm>
            <a:off x="284700" y="241425"/>
            <a:ext cx="7346700" cy="748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The Lozano Paper Pipeline</a:t>
            </a:r>
            <a:endParaRPr/>
          </a:p>
        </p:txBody>
      </p:sp>
      <p:sp>
        <p:nvSpPr>
          <p:cNvPr id="624" name="Google Shape;624;p60"/>
          <p:cNvSpPr/>
          <p:nvPr/>
        </p:nvSpPr>
        <p:spPr>
          <a:xfrm>
            <a:off x="8373000" y="2571750"/>
            <a:ext cx="587700" cy="535200"/>
          </a:xfrm>
          <a:prstGeom prst="star4">
            <a:avLst>
              <a:gd fmla="val 12500"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3"/>
              </a:solidFill>
              <a:highlight>
                <a:schemeClr val="accent3"/>
              </a:highlight>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1"/>
          <p:cNvSpPr txBox="1"/>
          <p:nvPr>
            <p:ph idx="4294967295" type="title"/>
          </p:nvPr>
        </p:nvSpPr>
        <p:spPr>
          <a:xfrm>
            <a:off x="284700" y="241425"/>
            <a:ext cx="7346700" cy="748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Straightforward…or is it?</a:t>
            </a:r>
            <a:endParaRPr/>
          </a:p>
        </p:txBody>
      </p:sp>
      <p:sp>
        <p:nvSpPr>
          <p:cNvPr id="630" name="Google Shape;630;p61"/>
          <p:cNvSpPr txBox="1"/>
          <p:nvPr/>
        </p:nvSpPr>
        <p:spPr>
          <a:xfrm>
            <a:off x="3463675" y="4648338"/>
            <a:ext cx="1797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Urbanist"/>
                <a:ea typeface="Urbanist"/>
                <a:cs typeface="Urbanist"/>
                <a:sym typeface="Urbanist"/>
              </a:rPr>
              <a:t>Protein FASTAs</a:t>
            </a:r>
            <a:endParaRPr b="1" sz="1700">
              <a:solidFill>
                <a:schemeClr val="lt1"/>
              </a:solidFill>
              <a:latin typeface="Urbanist"/>
              <a:ea typeface="Urbanist"/>
              <a:cs typeface="Urbanist"/>
              <a:sym typeface="Urbanist"/>
            </a:endParaRPr>
          </a:p>
        </p:txBody>
      </p:sp>
      <p:sp>
        <p:nvSpPr>
          <p:cNvPr id="631" name="Google Shape;631;p61"/>
          <p:cNvSpPr txBox="1"/>
          <p:nvPr/>
        </p:nvSpPr>
        <p:spPr>
          <a:xfrm>
            <a:off x="6770700" y="2780813"/>
            <a:ext cx="1797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Urbanist"/>
                <a:ea typeface="Urbanist"/>
                <a:cs typeface="Urbanist"/>
                <a:sym typeface="Urbanist"/>
              </a:rPr>
              <a:t>VCF files</a:t>
            </a:r>
            <a:endParaRPr b="1" sz="2100">
              <a:solidFill>
                <a:schemeClr val="lt1"/>
              </a:solidFill>
              <a:latin typeface="Urbanist"/>
              <a:ea typeface="Urbanist"/>
              <a:cs typeface="Urbanist"/>
              <a:sym typeface="Urbanist"/>
            </a:endParaRPr>
          </a:p>
        </p:txBody>
      </p:sp>
      <p:sp>
        <p:nvSpPr>
          <p:cNvPr id="632" name="Google Shape;632;p61"/>
          <p:cNvSpPr txBox="1"/>
          <p:nvPr/>
        </p:nvSpPr>
        <p:spPr>
          <a:xfrm>
            <a:off x="284700" y="1615213"/>
            <a:ext cx="1797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Urbanist"/>
                <a:ea typeface="Urbanist"/>
                <a:cs typeface="Urbanist"/>
                <a:sym typeface="Urbanist"/>
              </a:rPr>
              <a:t>CDS FASTAs</a:t>
            </a:r>
            <a:endParaRPr b="1" sz="1700">
              <a:solidFill>
                <a:schemeClr val="lt1"/>
              </a:solidFill>
              <a:latin typeface="Urbanist"/>
              <a:ea typeface="Urbanist"/>
              <a:cs typeface="Urbanist"/>
              <a:sym typeface="Urbanist"/>
            </a:endParaRPr>
          </a:p>
        </p:txBody>
      </p:sp>
      <p:sp>
        <p:nvSpPr>
          <p:cNvPr id="633" name="Google Shape;633;p61"/>
          <p:cNvSpPr txBox="1"/>
          <p:nvPr/>
        </p:nvSpPr>
        <p:spPr>
          <a:xfrm>
            <a:off x="6479400" y="4459800"/>
            <a:ext cx="23799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latin typeface="Urbanist"/>
                <a:ea typeface="Urbanist"/>
                <a:cs typeface="Urbanist"/>
                <a:sym typeface="Urbanist"/>
              </a:rPr>
              <a:t>Protein alignments</a:t>
            </a:r>
            <a:endParaRPr b="1" sz="1900">
              <a:solidFill>
                <a:schemeClr val="lt1"/>
              </a:solidFill>
              <a:latin typeface="Urbanist"/>
              <a:ea typeface="Urbanist"/>
              <a:cs typeface="Urbanist"/>
              <a:sym typeface="Urbanist"/>
            </a:endParaRPr>
          </a:p>
        </p:txBody>
      </p:sp>
      <p:sp>
        <p:nvSpPr>
          <p:cNvPr id="634" name="Google Shape;634;p61"/>
          <p:cNvSpPr txBox="1"/>
          <p:nvPr/>
        </p:nvSpPr>
        <p:spPr>
          <a:xfrm>
            <a:off x="284700" y="3839850"/>
            <a:ext cx="1797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Urbanist"/>
                <a:ea typeface="Urbanist"/>
                <a:cs typeface="Urbanist"/>
                <a:sym typeface="Urbanist"/>
              </a:rPr>
              <a:t>GFF3 files</a:t>
            </a:r>
            <a:endParaRPr b="1" sz="1700">
              <a:solidFill>
                <a:schemeClr val="lt1"/>
              </a:solidFill>
              <a:latin typeface="Urbanist"/>
              <a:ea typeface="Urbanist"/>
              <a:cs typeface="Urbanist"/>
              <a:sym typeface="Urbanist"/>
            </a:endParaRPr>
          </a:p>
        </p:txBody>
      </p:sp>
      <p:sp>
        <p:nvSpPr>
          <p:cNvPr id="635" name="Google Shape;635;p61"/>
          <p:cNvSpPr txBox="1"/>
          <p:nvPr/>
        </p:nvSpPr>
        <p:spPr>
          <a:xfrm>
            <a:off x="284700" y="2658100"/>
            <a:ext cx="17973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lt1"/>
                </a:solidFill>
                <a:latin typeface="Urbanist"/>
                <a:ea typeface="Urbanist"/>
                <a:cs typeface="Urbanist"/>
                <a:sym typeface="Urbanist"/>
              </a:rPr>
              <a:t>Text files</a:t>
            </a:r>
            <a:endParaRPr b="1" sz="2000">
              <a:solidFill>
                <a:schemeClr val="lt1"/>
              </a:solidFill>
              <a:latin typeface="Urbanist"/>
              <a:ea typeface="Urbanist"/>
              <a:cs typeface="Urbanist"/>
              <a:sym typeface="Urbanist"/>
            </a:endParaRPr>
          </a:p>
        </p:txBody>
      </p:sp>
      <p:sp>
        <p:nvSpPr>
          <p:cNvPr id="636" name="Google Shape;636;p61"/>
          <p:cNvSpPr txBox="1"/>
          <p:nvPr/>
        </p:nvSpPr>
        <p:spPr>
          <a:xfrm>
            <a:off x="6749800" y="1530538"/>
            <a:ext cx="1797300" cy="8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lt1"/>
                </a:solidFill>
                <a:latin typeface="Urbanist"/>
                <a:ea typeface="Urbanist"/>
                <a:cs typeface="Urbanist"/>
                <a:sym typeface="Urbanist"/>
              </a:rPr>
              <a:t>Nucleotide alignments</a:t>
            </a:r>
            <a:endParaRPr b="1" sz="1600">
              <a:solidFill>
                <a:schemeClr val="lt1"/>
              </a:solidFill>
              <a:latin typeface="Urbanist"/>
              <a:ea typeface="Urbanist"/>
              <a:cs typeface="Urbanist"/>
              <a:sym typeface="Urbanist"/>
            </a:endParaRPr>
          </a:p>
        </p:txBody>
      </p:sp>
      <p:sp>
        <p:nvSpPr>
          <p:cNvPr id="637" name="Google Shape;637;p61"/>
          <p:cNvSpPr txBox="1"/>
          <p:nvPr/>
        </p:nvSpPr>
        <p:spPr>
          <a:xfrm>
            <a:off x="3337475" y="1111100"/>
            <a:ext cx="2867700" cy="41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Urbanist"/>
                <a:ea typeface="Urbanist"/>
                <a:cs typeface="Urbanist"/>
                <a:sym typeface="Urbanist"/>
              </a:rPr>
              <a:t>CSV/TSV</a:t>
            </a:r>
            <a:r>
              <a:rPr b="1" lang="en" sz="2100">
                <a:solidFill>
                  <a:schemeClr val="lt1"/>
                </a:solidFill>
                <a:latin typeface="Urbanist"/>
                <a:ea typeface="Urbanist"/>
                <a:cs typeface="Urbanist"/>
                <a:sym typeface="Urbanist"/>
              </a:rPr>
              <a:t> files</a:t>
            </a:r>
            <a:endParaRPr b="1" sz="2100">
              <a:solidFill>
                <a:schemeClr val="lt1"/>
              </a:solidFill>
              <a:latin typeface="Urbanist"/>
              <a:ea typeface="Urbanist"/>
              <a:cs typeface="Urbanist"/>
              <a:sym typeface="Urbanist"/>
            </a:endParaRPr>
          </a:p>
        </p:txBody>
      </p:sp>
      <p:pic>
        <p:nvPicPr>
          <p:cNvPr descr="a close up of a stuffed animal with a rainbow in the background . (Provided by Tenor)" id="638" name="Google Shape;638;p61"/>
          <p:cNvPicPr preferRelativeResize="0"/>
          <p:nvPr/>
        </p:nvPicPr>
        <p:blipFill>
          <a:blip r:embed="rId3">
            <a:alphaModFix/>
          </a:blip>
          <a:stretch>
            <a:fillRect/>
          </a:stretch>
        </p:blipFill>
        <p:spPr>
          <a:xfrm>
            <a:off x="3035725" y="1649875"/>
            <a:ext cx="2867600" cy="286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2"/>
          <p:cNvSpPr txBox="1"/>
          <p:nvPr>
            <p:ph idx="5"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3200"/>
              <a:t>Which files do I need?</a:t>
            </a:r>
            <a:endParaRPr sz="3200"/>
          </a:p>
        </p:txBody>
      </p:sp>
      <p:sp>
        <p:nvSpPr>
          <p:cNvPr id="644" name="Google Shape;644;p62"/>
          <p:cNvSpPr txBox="1"/>
          <p:nvPr>
            <p:ph idx="3" type="body"/>
          </p:nvPr>
        </p:nvSpPr>
        <p:spPr>
          <a:xfrm>
            <a:off x="275850" y="1908350"/>
            <a:ext cx="5422500" cy="27756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100"/>
              <a:t>Focal species: Sorghum bicolor (BTx623)</a:t>
            </a:r>
            <a:endParaRPr sz="2100"/>
          </a:p>
          <a:p>
            <a:pPr indent="-361950" lvl="0" marL="457200" rtl="0" algn="l">
              <a:spcBef>
                <a:spcPts val="0"/>
              </a:spcBef>
              <a:spcAft>
                <a:spcPts val="0"/>
              </a:spcAft>
              <a:buSzPts val="2100"/>
              <a:buChar char="-"/>
            </a:pPr>
            <a:r>
              <a:rPr lang="en" sz="2100"/>
              <a:t>Protein FASTA</a:t>
            </a:r>
            <a:endParaRPr sz="2100"/>
          </a:p>
          <a:p>
            <a:pPr indent="-361950" lvl="0" marL="457200" rtl="0" algn="l">
              <a:spcBef>
                <a:spcPts val="0"/>
              </a:spcBef>
              <a:spcAft>
                <a:spcPts val="0"/>
              </a:spcAft>
              <a:buSzPts val="2100"/>
              <a:buChar char="-"/>
            </a:pPr>
            <a:r>
              <a:rPr lang="en" sz="2100"/>
              <a:t>CDS FASTA</a:t>
            </a:r>
            <a:endParaRPr sz="2100"/>
          </a:p>
          <a:p>
            <a:pPr indent="-361950" lvl="0" marL="457200" rtl="0" algn="l">
              <a:spcBef>
                <a:spcPts val="0"/>
              </a:spcBef>
              <a:spcAft>
                <a:spcPts val="0"/>
              </a:spcAft>
              <a:buSzPts val="2100"/>
              <a:buChar char="-"/>
            </a:pPr>
            <a:r>
              <a:rPr lang="en" sz="2100"/>
              <a:t>Gff3 file</a:t>
            </a:r>
            <a:endParaRPr sz="2100"/>
          </a:p>
          <a:p>
            <a:pPr indent="-361950" lvl="0" marL="457200" rtl="0" algn="l">
              <a:spcBef>
                <a:spcPts val="0"/>
              </a:spcBef>
              <a:spcAft>
                <a:spcPts val="0"/>
              </a:spcAft>
              <a:buSzPts val="2100"/>
              <a:buChar char="-"/>
            </a:pPr>
            <a:r>
              <a:rPr lang="en" sz="2100"/>
              <a:t>VCF file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 sz="2100"/>
              <a:t>Outgroups: Setaria italica, Maize</a:t>
            </a:r>
            <a:endParaRPr sz="2100"/>
          </a:p>
          <a:p>
            <a:pPr indent="-361950" lvl="0" marL="457200" rtl="0" algn="l">
              <a:spcBef>
                <a:spcPts val="0"/>
              </a:spcBef>
              <a:spcAft>
                <a:spcPts val="0"/>
              </a:spcAft>
              <a:buSzPts val="2100"/>
              <a:buChar char="-"/>
            </a:pPr>
            <a:r>
              <a:rPr lang="en" sz="2100"/>
              <a:t>Protein FASTAs</a:t>
            </a:r>
            <a:endParaRPr sz="2100"/>
          </a:p>
          <a:p>
            <a:pPr indent="-361950" lvl="0" marL="457200" rtl="0" algn="l">
              <a:spcBef>
                <a:spcPts val="0"/>
              </a:spcBef>
              <a:spcAft>
                <a:spcPts val="0"/>
              </a:spcAft>
              <a:buSzPts val="2100"/>
              <a:buChar char="-"/>
            </a:pPr>
            <a:r>
              <a:rPr lang="en" sz="2100"/>
              <a:t>CDS FASTAs</a:t>
            </a:r>
            <a:endParaRPr sz="21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645" name="Google Shape;645;p62"/>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3200">
                <a:solidFill>
                  <a:srgbClr val="00FFFF"/>
                </a:solidFill>
              </a:rPr>
              <a:t>Step 0: Organizing Data</a:t>
            </a:r>
            <a:endParaRPr sz="3200">
              <a:solidFill>
                <a:srgbClr val="00FFFF"/>
              </a:solidFill>
            </a:endParaRPr>
          </a:p>
        </p:txBody>
      </p:sp>
      <p:sp>
        <p:nvSpPr>
          <p:cNvPr id="646" name="Google Shape;646;p62"/>
          <p:cNvSpPr/>
          <p:nvPr/>
        </p:nvSpPr>
        <p:spPr>
          <a:xfrm flipH="1" rot="-5400000">
            <a:off x="0" y="0"/>
            <a:ext cx="551700" cy="551700"/>
          </a:xfrm>
          <a:prstGeom prst="pie">
            <a:avLst>
              <a:gd fmla="val 931" name="adj1"/>
              <a:gd fmla="val 5408708" name="adj2"/>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3"/>
          <p:cNvSpPr txBox="1"/>
          <p:nvPr>
            <p:ph idx="5"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Deal Breakers</a:t>
            </a:r>
            <a:endParaRPr/>
          </a:p>
        </p:txBody>
      </p:sp>
      <p:sp>
        <p:nvSpPr>
          <p:cNvPr id="652" name="Google Shape;652;p63"/>
          <p:cNvSpPr txBox="1"/>
          <p:nvPr>
            <p:ph idx="3" type="body"/>
          </p:nvPr>
        </p:nvSpPr>
        <p:spPr>
          <a:xfrm>
            <a:off x="275850" y="1908350"/>
            <a:ext cx="8391000" cy="2775600"/>
          </a:xfrm>
          <a:prstGeom prst="rect">
            <a:avLst/>
          </a:prstGeom>
        </p:spPr>
        <p:txBody>
          <a:bodyPr anchorCtr="0" anchor="t" bIns="91425" lIns="0" spcFirstLastPara="1" rIns="91425" wrap="square" tIns="91425">
            <a:noAutofit/>
          </a:bodyPr>
          <a:lstStyle/>
          <a:p>
            <a:pPr indent="-361950" lvl="0" marL="457200" rtl="0" algn="l">
              <a:spcBef>
                <a:spcPts val="0"/>
              </a:spcBef>
              <a:spcAft>
                <a:spcPts val="0"/>
              </a:spcAft>
              <a:buSzPts val="2100"/>
              <a:buChar char="-"/>
            </a:pPr>
            <a:r>
              <a:rPr lang="en" sz="2100"/>
              <a:t>Protein FASTAs for each species→NO ASTERISK (TERMINAL CODON)</a:t>
            </a:r>
            <a:endParaRPr sz="2100"/>
          </a:p>
          <a:p>
            <a:pPr indent="0" lvl="0" marL="457200" rtl="0" algn="l">
              <a:spcBef>
                <a:spcPts val="0"/>
              </a:spcBef>
              <a:spcAft>
                <a:spcPts val="0"/>
              </a:spcAft>
              <a:buNone/>
            </a:pPr>
            <a:r>
              <a:t/>
            </a:r>
            <a:endParaRPr sz="2100"/>
          </a:p>
          <a:p>
            <a:pPr indent="-361950" lvl="0" marL="457200" rtl="0" algn="l">
              <a:spcBef>
                <a:spcPts val="0"/>
              </a:spcBef>
              <a:spcAft>
                <a:spcPts val="0"/>
              </a:spcAft>
              <a:buSzPts val="2100"/>
              <a:buChar char="-"/>
            </a:pPr>
            <a:r>
              <a:rPr lang="en" sz="2100"/>
              <a:t>***SEQUENCE HEADERS MUST MATCH IN BOTH PROTEIN AND CDS FASTAS***</a:t>
            </a:r>
            <a:endParaRPr sz="2100"/>
          </a:p>
          <a:p>
            <a:pPr indent="-387350" lvl="1" marL="914400" rtl="0" algn="l">
              <a:spcBef>
                <a:spcPts val="0"/>
              </a:spcBef>
              <a:spcAft>
                <a:spcPts val="0"/>
              </a:spcAft>
              <a:buSzPts val="2500"/>
              <a:buChar char="-"/>
            </a:pPr>
            <a:r>
              <a:rPr lang="en" sz="1950">
                <a:latin typeface="Arial"/>
                <a:ea typeface="Arial"/>
                <a:cs typeface="Arial"/>
                <a:sym typeface="Arial"/>
              </a:rPr>
              <a:t>&gt;Zm00001d033527_P001</a:t>
            </a:r>
            <a:endParaRPr sz="1950">
              <a:latin typeface="Arial"/>
              <a:ea typeface="Arial"/>
              <a:cs typeface="Arial"/>
              <a:sym typeface="Arial"/>
            </a:endParaRPr>
          </a:p>
          <a:p>
            <a:pPr indent="-352425" lvl="1" marL="914400" rtl="0" algn="l">
              <a:spcBef>
                <a:spcPts val="0"/>
              </a:spcBef>
              <a:spcAft>
                <a:spcPts val="0"/>
              </a:spcAft>
              <a:buSzPts val="1950"/>
              <a:buFont typeface="Arial"/>
              <a:buChar char="-"/>
            </a:pPr>
            <a:r>
              <a:rPr lang="en" sz="1950">
                <a:latin typeface="Arial"/>
                <a:ea typeface="Arial"/>
                <a:cs typeface="Arial"/>
                <a:sym typeface="Arial"/>
              </a:rPr>
              <a:t>&gt;Zm00001d033527_T001</a:t>
            </a:r>
            <a:endParaRPr sz="1950">
              <a:latin typeface="Arial"/>
              <a:ea typeface="Arial"/>
              <a:cs typeface="Arial"/>
              <a:sym typeface="Arial"/>
            </a:endParaRPr>
          </a:p>
          <a:p>
            <a:pPr indent="-352425" lvl="1" marL="914400" rtl="0" algn="l">
              <a:spcBef>
                <a:spcPts val="0"/>
              </a:spcBef>
              <a:spcAft>
                <a:spcPts val="0"/>
              </a:spcAft>
              <a:buSzPts val="1950"/>
              <a:buFont typeface="Arial"/>
              <a:buChar char="-"/>
            </a:pPr>
            <a:r>
              <a:rPr lang="en" sz="1950">
                <a:latin typeface="Arial"/>
                <a:ea typeface="Arial"/>
                <a:cs typeface="Arial"/>
                <a:sym typeface="Arial"/>
              </a:rPr>
              <a:t>Trailing ‘.p’ → remove it!!!</a:t>
            </a:r>
            <a:endParaRPr sz="1950">
              <a:latin typeface="Arial"/>
              <a:ea typeface="Arial"/>
              <a:cs typeface="Arial"/>
              <a:sym typeface="Arial"/>
            </a:endParaRPr>
          </a:p>
          <a:p>
            <a:pPr indent="0" lvl="0" marL="0" rtl="0" algn="l">
              <a:spcBef>
                <a:spcPts val="0"/>
              </a:spcBef>
              <a:spcAft>
                <a:spcPts val="0"/>
              </a:spcAft>
              <a:buNone/>
            </a:pPr>
            <a:r>
              <a:t/>
            </a:r>
            <a:endParaRPr sz="1050">
              <a:latin typeface="Arial"/>
              <a:ea typeface="Arial"/>
              <a:cs typeface="Arial"/>
              <a:sym typeface="Arial"/>
            </a:endParaRPr>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653" name="Google Shape;653;p63"/>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solidFill>
                  <a:srgbClr val="00FFFF"/>
                </a:solidFill>
              </a:rPr>
              <a:t>Step 0: Organizing Data</a:t>
            </a:r>
            <a:endParaRPr>
              <a:solidFill>
                <a:srgbClr val="00FFFF"/>
              </a:solidFill>
            </a:endParaRPr>
          </a:p>
        </p:txBody>
      </p:sp>
      <p:sp>
        <p:nvSpPr>
          <p:cNvPr id="654" name="Google Shape;654;p63"/>
          <p:cNvSpPr/>
          <p:nvPr/>
        </p:nvSpPr>
        <p:spPr>
          <a:xfrm flipH="1" rot="-5400000">
            <a:off x="0" y="0"/>
            <a:ext cx="551700" cy="551700"/>
          </a:xfrm>
          <a:prstGeom prst="pie">
            <a:avLst>
              <a:gd fmla="val 931" name="adj1"/>
              <a:gd fmla="val 5408708" name="adj2"/>
            </a:avLst>
          </a:prstGeom>
          <a:solidFill>
            <a:srgbClr val="00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64"/>
          <p:cNvSpPr txBox="1"/>
          <p:nvPr>
            <p:ph idx="5"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OrthoFinder</a:t>
            </a:r>
            <a:endParaRPr/>
          </a:p>
        </p:txBody>
      </p:sp>
      <p:sp>
        <p:nvSpPr>
          <p:cNvPr id="660" name="Google Shape;660;p64"/>
          <p:cNvSpPr txBox="1"/>
          <p:nvPr>
            <p:ph idx="3" type="body"/>
          </p:nvPr>
        </p:nvSpPr>
        <p:spPr>
          <a:xfrm>
            <a:off x="329575" y="1963175"/>
            <a:ext cx="4290600" cy="2381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600"/>
              <a:t>Focal species: Sorghum bicolor (BTx623)</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Outgroups: Setaria italica, Maize</a:t>
            </a:r>
            <a:endParaRPr sz="1600"/>
          </a:p>
        </p:txBody>
      </p:sp>
      <p:sp>
        <p:nvSpPr>
          <p:cNvPr id="661" name="Google Shape;661;p64"/>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1: Orthogroups</a:t>
            </a:r>
            <a:endParaRPr/>
          </a:p>
        </p:txBody>
      </p:sp>
      <p:sp>
        <p:nvSpPr>
          <p:cNvPr id="662" name="Google Shape;662;p64"/>
          <p:cNvSpPr/>
          <p:nvPr/>
        </p:nvSpPr>
        <p:spPr>
          <a:xfrm flipH="1" rot="-5400000">
            <a:off x="0" y="0"/>
            <a:ext cx="551700" cy="551700"/>
          </a:xfrm>
          <a:prstGeom prst="pie">
            <a:avLst>
              <a:gd fmla="val 931"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descr="a yellow folder with a white background is empty (Provided by Tenor)" id="663" name="Google Shape;663;p64"/>
          <p:cNvPicPr preferRelativeResize="0"/>
          <p:nvPr/>
        </p:nvPicPr>
        <p:blipFill>
          <a:blip r:embed="rId3">
            <a:alphaModFix/>
          </a:blip>
          <a:stretch>
            <a:fillRect/>
          </a:stretch>
        </p:blipFill>
        <p:spPr>
          <a:xfrm>
            <a:off x="551697" y="3089037"/>
            <a:ext cx="1957724" cy="1768263"/>
          </a:xfrm>
          <a:prstGeom prst="rect">
            <a:avLst/>
          </a:prstGeom>
          <a:noFill/>
          <a:ln>
            <a:noFill/>
          </a:ln>
        </p:spPr>
      </p:pic>
      <p:pic>
        <p:nvPicPr>
          <p:cNvPr descr="a yellow folder with a white background is empty (Provided by Tenor)" id="664" name="Google Shape;664;p64"/>
          <p:cNvPicPr preferRelativeResize="0"/>
          <p:nvPr/>
        </p:nvPicPr>
        <p:blipFill>
          <a:blip r:embed="rId3">
            <a:alphaModFix/>
          </a:blip>
          <a:stretch>
            <a:fillRect/>
          </a:stretch>
        </p:blipFill>
        <p:spPr>
          <a:xfrm>
            <a:off x="3686972" y="3089037"/>
            <a:ext cx="1957724" cy="1768263"/>
          </a:xfrm>
          <a:prstGeom prst="rect">
            <a:avLst/>
          </a:prstGeom>
          <a:noFill/>
          <a:ln>
            <a:noFill/>
          </a:ln>
        </p:spPr>
      </p:pic>
      <p:sp>
        <p:nvSpPr>
          <p:cNvPr id="665" name="Google Shape;665;p64"/>
          <p:cNvSpPr txBox="1"/>
          <p:nvPr/>
        </p:nvSpPr>
        <p:spPr>
          <a:xfrm>
            <a:off x="653400" y="4039250"/>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222222"/>
                </a:solidFill>
                <a:latin typeface="Urbanist"/>
                <a:ea typeface="Urbanist"/>
                <a:cs typeface="Urbanist"/>
                <a:sym typeface="Urbanist"/>
              </a:rPr>
              <a:t>Protein Orthogroup FASTAs</a:t>
            </a:r>
            <a:endParaRPr b="1" sz="1000">
              <a:solidFill>
                <a:srgbClr val="222222"/>
              </a:solidFill>
              <a:latin typeface="Urbanist"/>
              <a:ea typeface="Urbanist"/>
              <a:cs typeface="Urbanist"/>
              <a:sym typeface="Urbanist"/>
            </a:endParaRPr>
          </a:p>
        </p:txBody>
      </p:sp>
      <p:sp>
        <p:nvSpPr>
          <p:cNvPr id="666" name="Google Shape;666;p64"/>
          <p:cNvSpPr txBox="1"/>
          <p:nvPr/>
        </p:nvSpPr>
        <p:spPr>
          <a:xfrm>
            <a:off x="3832275" y="4039250"/>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22222"/>
                </a:solidFill>
                <a:latin typeface="Urbanist"/>
                <a:ea typeface="Urbanist"/>
                <a:cs typeface="Urbanist"/>
                <a:sym typeface="Urbanist"/>
              </a:rPr>
              <a:t>CDS</a:t>
            </a:r>
            <a:r>
              <a:rPr b="1" lang="en" sz="1100">
                <a:solidFill>
                  <a:srgbClr val="222222"/>
                </a:solidFill>
                <a:latin typeface="Urbanist"/>
                <a:ea typeface="Urbanist"/>
                <a:cs typeface="Urbanist"/>
                <a:sym typeface="Urbanist"/>
              </a:rPr>
              <a:t> Orthogroup FASTAs</a:t>
            </a:r>
            <a:endParaRPr b="1" sz="1100">
              <a:solidFill>
                <a:srgbClr val="222222"/>
              </a:solidFill>
              <a:latin typeface="Urbanist"/>
              <a:ea typeface="Urbanist"/>
              <a:cs typeface="Urbanist"/>
              <a:sym typeface="Urbani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5"/>
          <p:cNvSpPr txBox="1"/>
          <p:nvPr>
            <p:ph idx="3" type="title"/>
          </p:nvPr>
        </p:nvSpPr>
        <p:spPr>
          <a:xfrm>
            <a:off x="275850" y="13739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Clustal Omega</a:t>
            </a:r>
            <a:endParaRPr/>
          </a:p>
        </p:txBody>
      </p:sp>
      <p:sp>
        <p:nvSpPr>
          <p:cNvPr id="672" name="Google Shape;672;p65"/>
          <p:cNvSpPr txBox="1"/>
          <p:nvPr>
            <p:ph idx="1" type="body"/>
          </p:nvPr>
        </p:nvSpPr>
        <p:spPr>
          <a:xfrm>
            <a:off x="329575" y="2187875"/>
            <a:ext cx="4290600" cy="1760700"/>
          </a:xfrm>
          <a:prstGeom prst="rect">
            <a:avLst/>
          </a:prstGeom>
        </p:spPr>
        <p:txBody>
          <a:bodyPr anchorCtr="0" anchor="t" bIns="91425" lIns="0" spcFirstLastPara="1" rIns="91425" wrap="square" tIns="91425">
            <a:noAutofit/>
          </a:bodyPr>
          <a:lstStyle/>
          <a:p>
            <a:pPr indent="-349250" lvl="0" marL="457200" rtl="0" algn="l">
              <a:spcBef>
                <a:spcPts val="0"/>
              </a:spcBef>
              <a:spcAft>
                <a:spcPts val="0"/>
              </a:spcAft>
              <a:buSzPts val="1900"/>
              <a:buChar char="-"/>
            </a:pPr>
            <a:r>
              <a:rPr lang="en" sz="1900"/>
              <a:t>Go through each protein orthogroup FASTA and align each one with Clustal Omega</a:t>
            </a:r>
            <a:endParaRPr sz="1900"/>
          </a:p>
        </p:txBody>
      </p:sp>
      <p:sp>
        <p:nvSpPr>
          <p:cNvPr id="673" name="Google Shape;673;p65"/>
          <p:cNvSpPr txBox="1"/>
          <p:nvPr>
            <p:ph type="title"/>
          </p:nvPr>
        </p:nvSpPr>
        <p:spPr>
          <a:xfrm>
            <a:off x="275850" y="58999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2: Protein Orthogroup Alignments</a:t>
            </a:r>
            <a:endParaRPr/>
          </a:p>
        </p:txBody>
      </p:sp>
      <p:sp>
        <p:nvSpPr>
          <p:cNvPr id="674" name="Google Shape;674;p65"/>
          <p:cNvSpPr/>
          <p:nvPr/>
        </p:nvSpPr>
        <p:spPr>
          <a:xfrm flipH="1" rot="-5400000">
            <a:off x="0" y="0"/>
            <a:ext cx="551700" cy="551700"/>
          </a:xfrm>
          <a:prstGeom prst="pie">
            <a:avLst>
              <a:gd fmla="val 9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descr="a yellow folder with a white background is empty (Provided by Tenor)" id="675" name="Google Shape;675;p65"/>
          <p:cNvPicPr preferRelativeResize="0"/>
          <p:nvPr/>
        </p:nvPicPr>
        <p:blipFill>
          <a:blip r:embed="rId3">
            <a:alphaModFix/>
          </a:blip>
          <a:stretch>
            <a:fillRect/>
          </a:stretch>
        </p:blipFill>
        <p:spPr>
          <a:xfrm>
            <a:off x="2920047" y="3234337"/>
            <a:ext cx="1957724" cy="1768263"/>
          </a:xfrm>
          <a:prstGeom prst="rect">
            <a:avLst/>
          </a:prstGeom>
          <a:noFill/>
          <a:ln>
            <a:noFill/>
          </a:ln>
        </p:spPr>
      </p:pic>
      <p:sp>
        <p:nvSpPr>
          <p:cNvPr id="676" name="Google Shape;676;p65"/>
          <p:cNvSpPr txBox="1"/>
          <p:nvPr/>
        </p:nvSpPr>
        <p:spPr>
          <a:xfrm>
            <a:off x="3145525" y="4117050"/>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22222"/>
                </a:solidFill>
                <a:latin typeface="Urbanist"/>
                <a:ea typeface="Urbanist"/>
                <a:cs typeface="Urbanist"/>
                <a:sym typeface="Urbanist"/>
              </a:rPr>
              <a:t>Aligned Protein</a:t>
            </a:r>
            <a:endParaRPr b="1" sz="1100">
              <a:solidFill>
                <a:srgbClr val="222222"/>
              </a:solidFill>
              <a:latin typeface="Urbanist"/>
              <a:ea typeface="Urbanist"/>
              <a:cs typeface="Urbanist"/>
              <a:sym typeface="Urbanist"/>
            </a:endParaRPr>
          </a:p>
          <a:p>
            <a:pPr indent="0" lvl="0" marL="0" rtl="0" algn="l">
              <a:spcBef>
                <a:spcPts val="0"/>
              </a:spcBef>
              <a:spcAft>
                <a:spcPts val="0"/>
              </a:spcAft>
              <a:buNone/>
            </a:pPr>
            <a:r>
              <a:rPr b="1" lang="en" sz="1100">
                <a:solidFill>
                  <a:srgbClr val="222222"/>
                </a:solidFill>
                <a:latin typeface="Urbanist"/>
                <a:ea typeface="Urbanist"/>
                <a:cs typeface="Urbanist"/>
                <a:sym typeface="Urbanist"/>
              </a:rPr>
              <a:t>O</a:t>
            </a:r>
            <a:r>
              <a:rPr b="1" lang="en" sz="1100">
                <a:solidFill>
                  <a:srgbClr val="222222"/>
                </a:solidFill>
                <a:latin typeface="Urbanist"/>
                <a:ea typeface="Urbanist"/>
                <a:cs typeface="Urbanist"/>
                <a:sym typeface="Urbanist"/>
              </a:rPr>
              <a:t>rthogroup FASTAs</a:t>
            </a:r>
            <a:endParaRPr b="1" sz="1100">
              <a:solidFill>
                <a:srgbClr val="222222"/>
              </a:solidFill>
              <a:latin typeface="Urbanist"/>
              <a:ea typeface="Urbanist"/>
              <a:cs typeface="Urbanist"/>
              <a:sym typeface="Urbanis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66"/>
          <p:cNvSpPr txBox="1"/>
          <p:nvPr>
            <p:ph idx="5" type="title"/>
          </p:nvPr>
        </p:nvSpPr>
        <p:spPr>
          <a:xfrm>
            <a:off x="275850" y="16051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TranAlign</a:t>
            </a:r>
            <a:endParaRPr/>
          </a:p>
        </p:txBody>
      </p:sp>
      <p:sp>
        <p:nvSpPr>
          <p:cNvPr id="682" name="Google Shape;682;p66"/>
          <p:cNvSpPr txBox="1"/>
          <p:nvPr>
            <p:ph idx="3" type="body"/>
          </p:nvPr>
        </p:nvSpPr>
        <p:spPr>
          <a:xfrm>
            <a:off x="286425" y="2331225"/>
            <a:ext cx="4290600" cy="1948800"/>
          </a:xfrm>
          <a:prstGeom prst="rect">
            <a:avLst/>
          </a:prstGeom>
        </p:spPr>
        <p:txBody>
          <a:bodyPr anchorCtr="0" anchor="t" bIns="91425" lIns="0" spcFirstLastPara="1" rIns="91425" wrap="square" tIns="91425">
            <a:noAutofit/>
          </a:bodyPr>
          <a:lstStyle/>
          <a:p>
            <a:pPr indent="-374650" lvl="0" marL="457200" rtl="0" algn="l">
              <a:spcBef>
                <a:spcPts val="0"/>
              </a:spcBef>
              <a:spcAft>
                <a:spcPts val="0"/>
              </a:spcAft>
              <a:buSzPts val="2300"/>
              <a:buChar char="-"/>
            </a:pPr>
            <a:r>
              <a:rPr lang="en" sz="2300"/>
              <a:t>Part of the EMBOSS package</a:t>
            </a:r>
            <a:endParaRPr sz="2300"/>
          </a:p>
          <a:p>
            <a:pPr indent="-374650" lvl="0" marL="457200" rtl="0" algn="l">
              <a:spcBef>
                <a:spcPts val="0"/>
              </a:spcBef>
              <a:spcAft>
                <a:spcPts val="0"/>
              </a:spcAft>
              <a:buSzPts val="2300"/>
              <a:buChar char="-"/>
            </a:pPr>
            <a:r>
              <a:rPr lang="en" sz="2300"/>
              <a:t>Requires an unaligned nucleotide fasta and an aligned protein fasta</a:t>
            </a:r>
            <a:endParaRPr sz="2300"/>
          </a:p>
        </p:txBody>
      </p:sp>
      <p:sp>
        <p:nvSpPr>
          <p:cNvPr id="683" name="Google Shape;683;p66"/>
          <p:cNvSpPr txBox="1"/>
          <p:nvPr>
            <p:ph type="title"/>
          </p:nvPr>
        </p:nvSpPr>
        <p:spPr>
          <a:xfrm>
            <a:off x="275850" y="7099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3: Nucleotide Orthogroup Alignment</a:t>
            </a:r>
            <a:endParaRPr/>
          </a:p>
        </p:txBody>
      </p:sp>
      <p:sp>
        <p:nvSpPr>
          <p:cNvPr id="684" name="Google Shape;684;p66"/>
          <p:cNvSpPr/>
          <p:nvPr/>
        </p:nvSpPr>
        <p:spPr>
          <a:xfrm flipH="1" rot="-5400000">
            <a:off x="0" y="76900"/>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7"/>
          <p:cNvSpPr txBox="1"/>
          <p:nvPr>
            <p:ph idx="5" type="title"/>
          </p:nvPr>
        </p:nvSpPr>
        <p:spPr>
          <a:xfrm>
            <a:off x="275850" y="16051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TranAlign</a:t>
            </a:r>
            <a:endParaRPr/>
          </a:p>
        </p:txBody>
      </p:sp>
      <p:sp>
        <p:nvSpPr>
          <p:cNvPr id="690" name="Google Shape;690;p67"/>
          <p:cNvSpPr txBox="1"/>
          <p:nvPr>
            <p:ph type="title"/>
          </p:nvPr>
        </p:nvSpPr>
        <p:spPr>
          <a:xfrm>
            <a:off x="275850" y="7099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3: Nucleotide Orthogroup Alignment</a:t>
            </a:r>
            <a:endParaRPr/>
          </a:p>
        </p:txBody>
      </p:sp>
      <p:sp>
        <p:nvSpPr>
          <p:cNvPr id="691" name="Google Shape;691;p67"/>
          <p:cNvSpPr/>
          <p:nvPr/>
        </p:nvSpPr>
        <p:spPr>
          <a:xfrm flipH="1" rot="-5400000">
            <a:off x="0" y="76900"/>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pic>
        <p:nvPicPr>
          <p:cNvPr descr="a yellow folder with a white background is empty (Provided by Tenor)" id="692" name="Google Shape;692;p67"/>
          <p:cNvPicPr preferRelativeResize="0"/>
          <p:nvPr/>
        </p:nvPicPr>
        <p:blipFill>
          <a:blip r:embed="rId3">
            <a:alphaModFix/>
          </a:blip>
          <a:stretch>
            <a:fillRect/>
          </a:stretch>
        </p:blipFill>
        <p:spPr>
          <a:xfrm>
            <a:off x="284697" y="2419112"/>
            <a:ext cx="1957724" cy="1768263"/>
          </a:xfrm>
          <a:prstGeom prst="rect">
            <a:avLst/>
          </a:prstGeom>
          <a:noFill/>
          <a:ln>
            <a:noFill/>
          </a:ln>
        </p:spPr>
      </p:pic>
      <p:sp>
        <p:nvSpPr>
          <p:cNvPr id="693" name="Google Shape;693;p67"/>
          <p:cNvSpPr txBox="1"/>
          <p:nvPr/>
        </p:nvSpPr>
        <p:spPr>
          <a:xfrm>
            <a:off x="510175" y="3301825"/>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22222"/>
                </a:solidFill>
                <a:latin typeface="Urbanist"/>
                <a:ea typeface="Urbanist"/>
                <a:cs typeface="Urbanist"/>
                <a:sym typeface="Urbanist"/>
              </a:rPr>
              <a:t>Aligned Protein</a:t>
            </a:r>
            <a:endParaRPr b="1" sz="1100">
              <a:solidFill>
                <a:srgbClr val="222222"/>
              </a:solidFill>
              <a:latin typeface="Urbanist"/>
              <a:ea typeface="Urbanist"/>
              <a:cs typeface="Urbanist"/>
              <a:sym typeface="Urbanist"/>
            </a:endParaRPr>
          </a:p>
          <a:p>
            <a:pPr indent="0" lvl="0" marL="0" rtl="0" algn="l">
              <a:spcBef>
                <a:spcPts val="0"/>
              </a:spcBef>
              <a:spcAft>
                <a:spcPts val="0"/>
              </a:spcAft>
              <a:buNone/>
            </a:pPr>
            <a:r>
              <a:rPr b="1" lang="en" sz="1100">
                <a:solidFill>
                  <a:srgbClr val="222222"/>
                </a:solidFill>
                <a:latin typeface="Urbanist"/>
                <a:ea typeface="Urbanist"/>
                <a:cs typeface="Urbanist"/>
                <a:sym typeface="Urbanist"/>
              </a:rPr>
              <a:t>Orthogroup FASTAs</a:t>
            </a:r>
            <a:endParaRPr b="1" sz="1100">
              <a:solidFill>
                <a:srgbClr val="222222"/>
              </a:solidFill>
              <a:latin typeface="Urbanist"/>
              <a:ea typeface="Urbanist"/>
              <a:cs typeface="Urbanist"/>
              <a:sym typeface="Urbanist"/>
            </a:endParaRPr>
          </a:p>
        </p:txBody>
      </p:sp>
      <p:sp>
        <p:nvSpPr>
          <p:cNvPr id="694" name="Google Shape;694;p67"/>
          <p:cNvSpPr/>
          <p:nvPr/>
        </p:nvSpPr>
        <p:spPr>
          <a:xfrm rot="-5400000">
            <a:off x="5703350" y="3245575"/>
            <a:ext cx="439200" cy="551700"/>
          </a:xfrm>
          <a:prstGeom prst="down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pic>
        <p:nvPicPr>
          <p:cNvPr descr="a yellow folder with a white background is empty (Provided by Tenor)" id="695" name="Google Shape;695;p67"/>
          <p:cNvPicPr preferRelativeResize="0"/>
          <p:nvPr/>
        </p:nvPicPr>
        <p:blipFill>
          <a:blip r:embed="rId3">
            <a:alphaModFix/>
          </a:blip>
          <a:stretch>
            <a:fillRect/>
          </a:stretch>
        </p:blipFill>
        <p:spPr>
          <a:xfrm>
            <a:off x="3236622" y="2419112"/>
            <a:ext cx="1957724" cy="1768263"/>
          </a:xfrm>
          <a:prstGeom prst="rect">
            <a:avLst/>
          </a:prstGeom>
          <a:noFill/>
          <a:ln>
            <a:noFill/>
          </a:ln>
        </p:spPr>
      </p:pic>
      <p:sp>
        <p:nvSpPr>
          <p:cNvPr id="696" name="Google Shape;696;p67"/>
          <p:cNvSpPr txBox="1"/>
          <p:nvPr/>
        </p:nvSpPr>
        <p:spPr>
          <a:xfrm>
            <a:off x="3381925" y="3369325"/>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22222"/>
                </a:solidFill>
                <a:latin typeface="Urbanist"/>
                <a:ea typeface="Urbanist"/>
                <a:cs typeface="Urbanist"/>
                <a:sym typeface="Urbanist"/>
              </a:rPr>
              <a:t>CDS Orthogroup FASTAs</a:t>
            </a:r>
            <a:endParaRPr b="1" sz="1100">
              <a:solidFill>
                <a:srgbClr val="222222"/>
              </a:solidFill>
              <a:latin typeface="Urbanist"/>
              <a:ea typeface="Urbanist"/>
              <a:cs typeface="Urbanist"/>
              <a:sym typeface="Urbanist"/>
            </a:endParaRPr>
          </a:p>
        </p:txBody>
      </p:sp>
      <p:pic>
        <p:nvPicPr>
          <p:cNvPr descr="a yellow folder with a white background is empty (Provided by Tenor)" id="697" name="Google Shape;697;p67"/>
          <p:cNvPicPr preferRelativeResize="0"/>
          <p:nvPr/>
        </p:nvPicPr>
        <p:blipFill>
          <a:blip r:embed="rId3">
            <a:alphaModFix/>
          </a:blip>
          <a:stretch>
            <a:fillRect/>
          </a:stretch>
        </p:blipFill>
        <p:spPr>
          <a:xfrm>
            <a:off x="6458772" y="2419112"/>
            <a:ext cx="1957724" cy="1768263"/>
          </a:xfrm>
          <a:prstGeom prst="rect">
            <a:avLst/>
          </a:prstGeom>
          <a:noFill/>
          <a:ln>
            <a:noFill/>
          </a:ln>
        </p:spPr>
      </p:pic>
      <p:sp>
        <p:nvSpPr>
          <p:cNvPr id="698" name="Google Shape;698;p67"/>
          <p:cNvSpPr txBox="1"/>
          <p:nvPr/>
        </p:nvSpPr>
        <p:spPr>
          <a:xfrm>
            <a:off x="6684250" y="3301825"/>
            <a:ext cx="2273700" cy="5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22222"/>
                </a:solidFill>
                <a:latin typeface="Urbanist"/>
                <a:ea typeface="Urbanist"/>
                <a:cs typeface="Urbanist"/>
                <a:sym typeface="Urbanist"/>
              </a:rPr>
              <a:t>Aligned CDS</a:t>
            </a:r>
            <a:endParaRPr b="1" sz="1100">
              <a:solidFill>
                <a:srgbClr val="222222"/>
              </a:solidFill>
              <a:latin typeface="Urbanist"/>
              <a:ea typeface="Urbanist"/>
              <a:cs typeface="Urbanist"/>
              <a:sym typeface="Urbanist"/>
            </a:endParaRPr>
          </a:p>
          <a:p>
            <a:pPr indent="0" lvl="0" marL="0" rtl="0" algn="l">
              <a:spcBef>
                <a:spcPts val="0"/>
              </a:spcBef>
              <a:spcAft>
                <a:spcPts val="0"/>
              </a:spcAft>
              <a:buNone/>
            </a:pPr>
            <a:r>
              <a:rPr b="1" lang="en" sz="1100">
                <a:solidFill>
                  <a:srgbClr val="222222"/>
                </a:solidFill>
                <a:latin typeface="Urbanist"/>
                <a:ea typeface="Urbanist"/>
                <a:cs typeface="Urbanist"/>
                <a:sym typeface="Urbanist"/>
              </a:rPr>
              <a:t>Orthogroup FASTAs</a:t>
            </a:r>
            <a:endParaRPr b="1" sz="1100">
              <a:solidFill>
                <a:srgbClr val="222222"/>
              </a:solidFill>
              <a:latin typeface="Urbanist"/>
              <a:ea typeface="Urbanist"/>
              <a:cs typeface="Urbanist"/>
              <a:sym typeface="Urbanist"/>
            </a:endParaRPr>
          </a:p>
        </p:txBody>
      </p:sp>
      <p:sp>
        <p:nvSpPr>
          <p:cNvPr id="699" name="Google Shape;699;p67"/>
          <p:cNvSpPr/>
          <p:nvPr/>
        </p:nvSpPr>
        <p:spPr>
          <a:xfrm>
            <a:off x="2407375" y="3301825"/>
            <a:ext cx="551700" cy="551700"/>
          </a:xfrm>
          <a:prstGeom prst="mathPlus">
            <a:avLst>
              <a:gd fmla="val 23520" name="adj1"/>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8"/>
          <p:cNvSpPr txBox="1"/>
          <p:nvPr>
            <p:ph idx="3" type="title"/>
          </p:nvPr>
        </p:nvSpPr>
        <p:spPr>
          <a:xfrm>
            <a:off x="284700" y="358850"/>
            <a:ext cx="7249500" cy="13266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1500"/>
              <a:t>Translating</a:t>
            </a:r>
            <a:r>
              <a:rPr lang="en" sz="1500"/>
              <a:t> alignment positions to their position in the genome</a:t>
            </a:r>
            <a:endParaRPr sz="1500"/>
          </a:p>
        </p:txBody>
      </p:sp>
      <p:sp>
        <p:nvSpPr>
          <p:cNvPr id="705" name="Google Shape;705;p68"/>
          <p:cNvSpPr txBox="1"/>
          <p:nvPr>
            <p:ph type="title"/>
          </p:nvPr>
        </p:nvSpPr>
        <p:spPr>
          <a:xfrm>
            <a:off x="275850"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4: Mapping</a:t>
            </a:r>
            <a:endParaRPr/>
          </a:p>
        </p:txBody>
      </p:sp>
      <p:sp>
        <p:nvSpPr>
          <p:cNvPr id="706" name="Google Shape;706;p68"/>
          <p:cNvSpPr/>
          <p:nvPr/>
        </p:nvSpPr>
        <p:spPr>
          <a:xfrm flipH="1" rot="-5400000">
            <a:off x="-267000" y="-2655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07" name="Google Shape;707;p68" title="Genomic mapping workflow infographic.png"/>
          <p:cNvPicPr preferRelativeResize="0"/>
          <p:nvPr/>
        </p:nvPicPr>
        <p:blipFill>
          <a:blip r:embed="rId3">
            <a:alphaModFix/>
          </a:blip>
          <a:stretch>
            <a:fillRect/>
          </a:stretch>
        </p:blipFill>
        <p:spPr>
          <a:xfrm>
            <a:off x="2093815" y="774300"/>
            <a:ext cx="5144022" cy="4369200"/>
          </a:xfrm>
          <a:prstGeom prst="rect">
            <a:avLst/>
          </a:prstGeom>
          <a:noFill/>
          <a:ln>
            <a:noFill/>
          </a:ln>
        </p:spPr>
      </p:pic>
      <p:sp>
        <p:nvSpPr>
          <p:cNvPr id="708" name="Google Shape;708;p68"/>
          <p:cNvSpPr txBox="1"/>
          <p:nvPr/>
        </p:nvSpPr>
        <p:spPr>
          <a:xfrm>
            <a:off x="5153025" y="2247900"/>
            <a:ext cx="123900" cy="858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709" name="Google Shape;709;p68"/>
          <p:cNvSpPr txBox="1"/>
          <p:nvPr/>
        </p:nvSpPr>
        <p:spPr>
          <a:xfrm>
            <a:off x="5162550" y="2352675"/>
            <a:ext cx="114300" cy="858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710" name="Google Shape;710;p68"/>
          <p:cNvSpPr txBox="1"/>
          <p:nvPr/>
        </p:nvSpPr>
        <p:spPr>
          <a:xfrm>
            <a:off x="4665825" y="3391050"/>
            <a:ext cx="3714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
                <a:latin typeface="Urbanist"/>
                <a:ea typeface="Urbanist"/>
                <a:cs typeface="Urbanist"/>
                <a:sym typeface="Urbanist"/>
              </a:rPr>
              <a:t>6</a:t>
            </a:r>
            <a:endParaRPr sz="500">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9"/>
          <p:cNvSpPr txBox="1"/>
          <p:nvPr>
            <p:ph idx="3" type="title"/>
          </p:nvPr>
        </p:nvSpPr>
        <p:spPr>
          <a:xfrm>
            <a:off x="275850" y="417300"/>
            <a:ext cx="5622600" cy="5517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2200"/>
              <a:t>Plus Strand Example</a:t>
            </a:r>
            <a:endParaRPr sz="2200"/>
          </a:p>
        </p:txBody>
      </p:sp>
      <p:sp>
        <p:nvSpPr>
          <p:cNvPr id="716" name="Google Shape;716;p69"/>
          <p:cNvSpPr txBox="1"/>
          <p:nvPr>
            <p:ph type="title"/>
          </p:nvPr>
        </p:nvSpPr>
        <p:spPr>
          <a:xfrm>
            <a:off x="275850"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4: Mapping</a:t>
            </a:r>
            <a:endParaRPr/>
          </a:p>
        </p:txBody>
      </p:sp>
      <p:sp>
        <p:nvSpPr>
          <p:cNvPr id="717" name="Google Shape;717;p69"/>
          <p:cNvSpPr/>
          <p:nvPr/>
        </p:nvSpPr>
        <p:spPr>
          <a:xfrm flipH="1" rot="-5400000">
            <a:off x="-267000" y="-2655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18" name="Google Shape;718;p69" title="Screenshot 2026-04-07 at 18.47.07.png"/>
          <p:cNvPicPr preferRelativeResize="0"/>
          <p:nvPr/>
        </p:nvPicPr>
        <p:blipFill>
          <a:blip r:embed="rId3">
            <a:alphaModFix/>
          </a:blip>
          <a:stretch>
            <a:fillRect/>
          </a:stretch>
        </p:blipFill>
        <p:spPr>
          <a:xfrm>
            <a:off x="2159375" y="955013"/>
            <a:ext cx="4589601" cy="1137675"/>
          </a:xfrm>
          <a:prstGeom prst="rect">
            <a:avLst/>
          </a:prstGeom>
          <a:noFill/>
          <a:ln>
            <a:noFill/>
          </a:ln>
        </p:spPr>
      </p:pic>
      <p:pic>
        <p:nvPicPr>
          <p:cNvPr id="719" name="Google Shape;719;p69" title="Screenshot 2026-04-07 at 18.49.00.png"/>
          <p:cNvPicPr preferRelativeResize="0"/>
          <p:nvPr/>
        </p:nvPicPr>
        <p:blipFill>
          <a:blip r:embed="rId4">
            <a:alphaModFix/>
          </a:blip>
          <a:stretch>
            <a:fillRect/>
          </a:stretch>
        </p:blipFill>
        <p:spPr>
          <a:xfrm>
            <a:off x="1712950" y="2092700"/>
            <a:ext cx="5469807" cy="30609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0"/>
          <p:cNvSpPr txBox="1"/>
          <p:nvPr>
            <p:ph idx="3" type="title"/>
          </p:nvPr>
        </p:nvSpPr>
        <p:spPr>
          <a:xfrm>
            <a:off x="275850" y="417300"/>
            <a:ext cx="7401900" cy="5517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2200"/>
              <a:t>Plus Strand Example: Zooming in on Exons </a:t>
            </a:r>
            <a:endParaRPr sz="2200"/>
          </a:p>
        </p:txBody>
      </p:sp>
      <p:sp>
        <p:nvSpPr>
          <p:cNvPr id="725" name="Google Shape;725;p70"/>
          <p:cNvSpPr txBox="1"/>
          <p:nvPr>
            <p:ph type="title"/>
          </p:nvPr>
        </p:nvSpPr>
        <p:spPr>
          <a:xfrm>
            <a:off x="275850"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4: Mapping</a:t>
            </a:r>
            <a:endParaRPr/>
          </a:p>
        </p:txBody>
      </p:sp>
      <p:sp>
        <p:nvSpPr>
          <p:cNvPr id="726" name="Google Shape;726;p70"/>
          <p:cNvSpPr/>
          <p:nvPr/>
        </p:nvSpPr>
        <p:spPr>
          <a:xfrm flipH="1" rot="-5400000">
            <a:off x="-267000" y="-2655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27" name="Google Shape;727;p70" title="Screenshot 2026-04-07 at 18.47.07.png"/>
          <p:cNvPicPr preferRelativeResize="0"/>
          <p:nvPr/>
        </p:nvPicPr>
        <p:blipFill>
          <a:blip r:embed="rId3">
            <a:alphaModFix/>
          </a:blip>
          <a:stretch>
            <a:fillRect/>
          </a:stretch>
        </p:blipFill>
        <p:spPr>
          <a:xfrm>
            <a:off x="2159375" y="1179938"/>
            <a:ext cx="4589601" cy="1137675"/>
          </a:xfrm>
          <a:prstGeom prst="rect">
            <a:avLst/>
          </a:prstGeom>
          <a:noFill/>
          <a:ln>
            <a:noFill/>
          </a:ln>
        </p:spPr>
      </p:pic>
      <p:pic>
        <p:nvPicPr>
          <p:cNvPr id="728" name="Google Shape;728;p70" title="Screenshot 2026-04-07 at 18.55.59.png"/>
          <p:cNvPicPr preferRelativeResize="0"/>
          <p:nvPr/>
        </p:nvPicPr>
        <p:blipFill>
          <a:blip r:embed="rId4">
            <a:alphaModFix/>
          </a:blip>
          <a:stretch>
            <a:fillRect/>
          </a:stretch>
        </p:blipFill>
        <p:spPr>
          <a:xfrm>
            <a:off x="1660051" y="2729225"/>
            <a:ext cx="1816887" cy="1780838"/>
          </a:xfrm>
          <a:prstGeom prst="rect">
            <a:avLst/>
          </a:prstGeom>
          <a:noFill/>
          <a:ln>
            <a:noFill/>
          </a:ln>
        </p:spPr>
      </p:pic>
      <p:pic>
        <p:nvPicPr>
          <p:cNvPr id="729" name="Google Shape;729;p70" title="Screenshot 2026-04-07 at 18.58.10.png"/>
          <p:cNvPicPr preferRelativeResize="0"/>
          <p:nvPr/>
        </p:nvPicPr>
        <p:blipFill>
          <a:blip r:embed="rId5">
            <a:alphaModFix/>
          </a:blip>
          <a:stretch>
            <a:fillRect/>
          </a:stretch>
        </p:blipFill>
        <p:spPr>
          <a:xfrm>
            <a:off x="4444673" y="2729223"/>
            <a:ext cx="3607363" cy="1780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71"/>
          <p:cNvSpPr txBox="1"/>
          <p:nvPr>
            <p:ph idx="3" type="title"/>
          </p:nvPr>
        </p:nvSpPr>
        <p:spPr>
          <a:xfrm>
            <a:off x="334225" y="417301"/>
            <a:ext cx="5622600" cy="13266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2200"/>
              <a:t>Minus Strand Example</a:t>
            </a:r>
            <a:endParaRPr sz="2200"/>
          </a:p>
        </p:txBody>
      </p:sp>
      <p:sp>
        <p:nvSpPr>
          <p:cNvPr id="735" name="Google Shape;735;p71"/>
          <p:cNvSpPr txBox="1"/>
          <p:nvPr>
            <p:ph type="title"/>
          </p:nvPr>
        </p:nvSpPr>
        <p:spPr>
          <a:xfrm>
            <a:off x="334225"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4: Mapping</a:t>
            </a:r>
            <a:endParaRPr/>
          </a:p>
        </p:txBody>
      </p:sp>
      <p:sp>
        <p:nvSpPr>
          <p:cNvPr id="736" name="Google Shape;736;p71"/>
          <p:cNvSpPr/>
          <p:nvPr/>
        </p:nvSpPr>
        <p:spPr>
          <a:xfrm flipH="1" rot="-5400000">
            <a:off x="-275850" y="-2655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37" name="Google Shape;737;p71" title="Screenshot 2026-04-07 at 18.42.00.png"/>
          <p:cNvPicPr preferRelativeResize="0"/>
          <p:nvPr/>
        </p:nvPicPr>
        <p:blipFill>
          <a:blip r:embed="rId3">
            <a:alphaModFix/>
          </a:blip>
          <a:stretch>
            <a:fillRect/>
          </a:stretch>
        </p:blipFill>
        <p:spPr>
          <a:xfrm>
            <a:off x="180800" y="1500024"/>
            <a:ext cx="4241523" cy="2475575"/>
          </a:xfrm>
          <a:prstGeom prst="rect">
            <a:avLst/>
          </a:prstGeom>
          <a:noFill/>
          <a:ln>
            <a:noFill/>
          </a:ln>
        </p:spPr>
      </p:pic>
      <p:pic>
        <p:nvPicPr>
          <p:cNvPr id="738" name="Google Shape;738;p71" title="Screenshot 2026-04-07 at 18.44.09.png"/>
          <p:cNvPicPr preferRelativeResize="0"/>
          <p:nvPr/>
        </p:nvPicPr>
        <p:blipFill>
          <a:blip r:embed="rId4">
            <a:alphaModFix/>
          </a:blip>
          <a:stretch>
            <a:fillRect/>
          </a:stretch>
        </p:blipFill>
        <p:spPr>
          <a:xfrm>
            <a:off x="4571988" y="1500016"/>
            <a:ext cx="4437626" cy="2475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2"/>
          <p:cNvSpPr txBox="1"/>
          <p:nvPr>
            <p:ph idx="3" type="title"/>
          </p:nvPr>
        </p:nvSpPr>
        <p:spPr>
          <a:xfrm>
            <a:off x="275850" y="417300"/>
            <a:ext cx="6237600" cy="13266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2100"/>
              <a:t>Minus Strand Example: Zooming in on Exons</a:t>
            </a:r>
            <a:endParaRPr sz="2100"/>
          </a:p>
        </p:txBody>
      </p:sp>
      <p:sp>
        <p:nvSpPr>
          <p:cNvPr id="744" name="Google Shape;744;p72"/>
          <p:cNvSpPr txBox="1"/>
          <p:nvPr>
            <p:ph type="title"/>
          </p:nvPr>
        </p:nvSpPr>
        <p:spPr>
          <a:xfrm>
            <a:off x="275850"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4: Mapping</a:t>
            </a:r>
            <a:endParaRPr/>
          </a:p>
        </p:txBody>
      </p:sp>
      <p:sp>
        <p:nvSpPr>
          <p:cNvPr id="745" name="Google Shape;745;p72"/>
          <p:cNvSpPr/>
          <p:nvPr/>
        </p:nvSpPr>
        <p:spPr>
          <a:xfrm flipH="1" rot="-5400000">
            <a:off x="-275850" y="-2655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46" name="Google Shape;746;p72" title="Screenshot 2026-04-07 at 18.42.00.png"/>
          <p:cNvPicPr preferRelativeResize="0"/>
          <p:nvPr/>
        </p:nvPicPr>
        <p:blipFill>
          <a:blip r:embed="rId3">
            <a:alphaModFix/>
          </a:blip>
          <a:stretch>
            <a:fillRect/>
          </a:stretch>
        </p:blipFill>
        <p:spPr>
          <a:xfrm>
            <a:off x="2451249" y="885200"/>
            <a:ext cx="3756949" cy="2192750"/>
          </a:xfrm>
          <a:prstGeom prst="rect">
            <a:avLst/>
          </a:prstGeom>
          <a:noFill/>
          <a:ln>
            <a:noFill/>
          </a:ln>
        </p:spPr>
      </p:pic>
      <p:pic>
        <p:nvPicPr>
          <p:cNvPr id="747" name="Google Shape;747;p72" title="Screenshot 2026-04-07 at 19.19.24.png"/>
          <p:cNvPicPr preferRelativeResize="0"/>
          <p:nvPr/>
        </p:nvPicPr>
        <p:blipFill>
          <a:blip r:embed="rId4">
            <a:alphaModFix/>
          </a:blip>
          <a:stretch>
            <a:fillRect/>
          </a:stretch>
        </p:blipFill>
        <p:spPr>
          <a:xfrm>
            <a:off x="777800" y="3335324"/>
            <a:ext cx="3581400" cy="1619250"/>
          </a:xfrm>
          <a:prstGeom prst="rect">
            <a:avLst/>
          </a:prstGeom>
          <a:noFill/>
          <a:ln>
            <a:noFill/>
          </a:ln>
        </p:spPr>
      </p:pic>
      <p:pic>
        <p:nvPicPr>
          <p:cNvPr id="748" name="Google Shape;748;p72" title="Screenshot 2026-04-07 at 19.20.07.png"/>
          <p:cNvPicPr preferRelativeResize="0"/>
          <p:nvPr/>
        </p:nvPicPr>
        <p:blipFill>
          <a:blip r:embed="rId5">
            <a:alphaModFix/>
          </a:blip>
          <a:stretch>
            <a:fillRect/>
          </a:stretch>
        </p:blipFill>
        <p:spPr>
          <a:xfrm>
            <a:off x="4893475" y="3335325"/>
            <a:ext cx="3543300" cy="1619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3"/>
          <p:cNvSpPr txBox="1"/>
          <p:nvPr>
            <p:ph idx="3"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3300"/>
              <a:t>est-sfs software</a:t>
            </a:r>
            <a:endParaRPr sz="3300"/>
          </a:p>
        </p:txBody>
      </p:sp>
      <p:sp>
        <p:nvSpPr>
          <p:cNvPr id="754" name="Google Shape;754;p73"/>
          <p:cNvSpPr txBox="1"/>
          <p:nvPr>
            <p:ph idx="1" type="body"/>
          </p:nvPr>
        </p:nvSpPr>
        <p:spPr>
          <a:xfrm>
            <a:off x="275850" y="1963175"/>
            <a:ext cx="4290600" cy="2894100"/>
          </a:xfrm>
          <a:prstGeom prst="rect">
            <a:avLst/>
          </a:prstGeom>
        </p:spPr>
        <p:txBody>
          <a:bodyPr anchorCtr="0" anchor="t" bIns="91425" lIns="0" spcFirstLastPara="1" rIns="91425" wrap="square" tIns="91425">
            <a:noAutofit/>
          </a:bodyPr>
          <a:lstStyle/>
          <a:p>
            <a:pPr indent="-431800" lvl="0" marL="457200" rtl="0" algn="l">
              <a:spcBef>
                <a:spcPts val="0"/>
              </a:spcBef>
              <a:spcAft>
                <a:spcPts val="0"/>
              </a:spcAft>
              <a:buSzPts val="3200"/>
              <a:buChar char="-"/>
            </a:pPr>
            <a:r>
              <a:rPr lang="en" sz="3200"/>
              <a:t>Input files:</a:t>
            </a:r>
            <a:endParaRPr sz="3200"/>
          </a:p>
          <a:p>
            <a:pPr indent="-431800" lvl="1" marL="914400" rtl="0" algn="l">
              <a:spcBef>
                <a:spcPts val="0"/>
              </a:spcBef>
              <a:spcAft>
                <a:spcPts val="0"/>
              </a:spcAft>
              <a:buSzPts val="3200"/>
              <a:buChar char="-"/>
            </a:pPr>
            <a:r>
              <a:rPr lang="en" sz="3200"/>
              <a:t>config-file.txt</a:t>
            </a:r>
            <a:endParaRPr sz="3200"/>
          </a:p>
          <a:p>
            <a:pPr indent="-431800" lvl="1" marL="914400" rtl="0" algn="l">
              <a:spcBef>
                <a:spcPts val="0"/>
              </a:spcBef>
              <a:spcAft>
                <a:spcPts val="0"/>
              </a:spcAft>
              <a:buSzPts val="3200"/>
              <a:buChar char="-"/>
            </a:pPr>
            <a:r>
              <a:rPr lang="en" sz="3200"/>
              <a:t>seed-file.txt</a:t>
            </a:r>
            <a:endParaRPr sz="3200"/>
          </a:p>
          <a:p>
            <a:pPr indent="-444500" lvl="1" marL="914400" rtl="0" algn="l">
              <a:spcBef>
                <a:spcPts val="0"/>
              </a:spcBef>
              <a:spcAft>
                <a:spcPts val="0"/>
              </a:spcAft>
              <a:buSzPts val="3400"/>
              <a:buChar char="-"/>
            </a:pPr>
            <a:r>
              <a:rPr b="1" lang="en" sz="3400" u="sng"/>
              <a:t>data-file.txt</a:t>
            </a:r>
            <a:endParaRPr b="1" sz="3400" u="sng"/>
          </a:p>
          <a:p>
            <a:pPr indent="0" lvl="0" marL="0" rtl="0" algn="l">
              <a:spcBef>
                <a:spcPts val="0"/>
              </a:spcBef>
              <a:spcAft>
                <a:spcPts val="0"/>
              </a:spcAft>
              <a:buNone/>
            </a:pPr>
            <a:r>
              <a:t/>
            </a:r>
            <a:endParaRPr sz="2100"/>
          </a:p>
        </p:txBody>
      </p:sp>
      <p:sp>
        <p:nvSpPr>
          <p:cNvPr id="755" name="Google Shape;755;p73"/>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The Big Kahuna</a:t>
            </a:r>
            <a:endParaRPr/>
          </a:p>
        </p:txBody>
      </p:sp>
      <p:sp>
        <p:nvSpPr>
          <p:cNvPr id="756" name="Google Shape;756;p73"/>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74"/>
          <p:cNvSpPr txBox="1"/>
          <p:nvPr>
            <p:ph idx="3"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config-file.txt</a:t>
            </a:r>
            <a:endParaRPr/>
          </a:p>
        </p:txBody>
      </p:sp>
      <p:sp>
        <p:nvSpPr>
          <p:cNvPr id="762" name="Google Shape;762;p74"/>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763" name="Google Shape;763;p74"/>
          <p:cNvSpPr/>
          <p:nvPr/>
        </p:nvSpPr>
        <p:spPr>
          <a:xfrm flipH="1" rot="-5400000">
            <a:off x="8850" y="1035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64" name="Google Shape;764;p74" title="Screenshot 2026-04-07 at 16.33.50.png"/>
          <p:cNvPicPr preferRelativeResize="0"/>
          <p:nvPr/>
        </p:nvPicPr>
        <p:blipFill>
          <a:blip r:embed="rId3">
            <a:alphaModFix/>
          </a:blip>
          <a:stretch>
            <a:fillRect/>
          </a:stretch>
        </p:blipFill>
        <p:spPr>
          <a:xfrm>
            <a:off x="1637725" y="1793224"/>
            <a:ext cx="5271798" cy="2875526"/>
          </a:xfrm>
          <a:prstGeom prst="rect">
            <a:avLst/>
          </a:prstGeom>
          <a:noFill/>
          <a:ln>
            <a:noFill/>
          </a:ln>
        </p:spPr>
      </p:pic>
      <p:sp>
        <p:nvSpPr>
          <p:cNvPr id="765" name="Google Shape;765;p74"/>
          <p:cNvSpPr txBox="1"/>
          <p:nvPr/>
        </p:nvSpPr>
        <p:spPr>
          <a:xfrm>
            <a:off x="8850" y="4824900"/>
            <a:ext cx="2753700" cy="3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Urbanist"/>
                <a:ea typeface="Urbanist"/>
                <a:cs typeface="Urbanist"/>
                <a:sym typeface="Urbanist"/>
              </a:rPr>
              <a:t>Source: est-sfs software documentation</a:t>
            </a:r>
            <a:endParaRPr sz="1100">
              <a:solidFill>
                <a:schemeClr val="lt1"/>
              </a:solidFill>
              <a:latin typeface="Urbanist"/>
              <a:ea typeface="Urbanist"/>
              <a:cs typeface="Urbanist"/>
              <a:sym typeface="Urbanis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75"/>
          <p:cNvSpPr txBox="1"/>
          <p:nvPr>
            <p:ph idx="3"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seed-file.txt</a:t>
            </a:r>
            <a:endParaRPr/>
          </a:p>
        </p:txBody>
      </p:sp>
      <p:sp>
        <p:nvSpPr>
          <p:cNvPr id="771" name="Google Shape;771;p75"/>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772" name="Google Shape;772;p75"/>
          <p:cNvSpPr/>
          <p:nvPr/>
        </p:nvSpPr>
        <p:spPr>
          <a:xfrm flipH="1" rot="-5400000">
            <a:off x="8850" y="1035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73" name="Google Shape;773;p75" title="Screenshot 2026-04-07 at 16.39.13.png"/>
          <p:cNvPicPr preferRelativeResize="0"/>
          <p:nvPr/>
        </p:nvPicPr>
        <p:blipFill>
          <a:blip r:embed="rId3">
            <a:alphaModFix/>
          </a:blip>
          <a:stretch>
            <a:fillRect/>
          </a:stretch>
        </p:blipFill>
        <p:spPr>
          <a:xfrm>
            <a:off x="152400" y="2115574"/>
            <a:ext cx="8839198" cy="1061570"/>
          </a:xfrm>
          <a:prstGeom prst="rect">
            <a:avLst/>
          </a:prstGeom>
          <a:noFill/>
          <a:ln>
            <a:noFill/>
          </a:ln>
        </p:spPr>
      </p:pic>
      <p:sp>
        <p:nvSpPr>
          <p:cNvPr id="774" name="Google Shape;774;p75"/>
          <p:cNvSpPr txBox="1"/>
          <p:nvPr/>
        </p:nvSpPr>
        <p:spPr>
          <a:xfrm>
            <a:off x="8850" y="4824900"/>
            <a:ext cx="2753700" cy="3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Urbanist"/>
                <a:ea typeface="Urbanist"/>
                <a:cs typeface="Urbanist"/>
                <a:sym typeface="Urbanist"/>
              </a:rPr>
              <a:t>Source: est-sfs software documentation</a:t>
            </a:r>
            <a:endParaRPr sz="1100">
              <a:solidFill>
                <a:schemeClr val="lt1"/>
              </a:solidFill>
              <a:latin typeface="Urbanist"/>
              <a:ea typeface="Urbanist"/>
              <a:cs typeface="Urbanist"/>
              <a:sym typeface="Urbanis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6"/>
          <p:cNvSpPr txBox="1"/>
          <p:nvPr>
            <p:ph idx="3" type="title"/>
          </p:nvPr>
        </p:nvSpPr>
        <p:spPr>
          <a:xfrm>
            <a:off x="275850" y="83844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data-file.txt</a:t>
            </a:r>
            <a:endParaRPr/>
          </a:p>
        </p:txBody>
      </p:sp>
      <p:sp>
        <p:nvSpPr>
          <p:cNvPr id="780" name="Google Shape;780;p76"/>
          <p:cNvSpPr txBox="1"/>
          <p:nvPr>
            <p:ph type="title"/>
          </p:nvPr>
        </p:nvSpPr>
        <p:spPr>
          <a:xfrm>
            <a:off x="275850" y="18297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781" name="Google Shape;781;p76"/>
          <p:cNvSpPr/>
          <p:nvPr/>
        </p:nvSpPr>
        <p:spPr>
          <a:xfrm flipH="1" rot="-5400000">
            <a:off x="8850" y="1035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82" name="Google Shape;782;p76" title="Screenshot 2026-04-07 at 16.57.45.png"/>
          <p:cNvPicPr preferRelativeResize="0"/>
          <p:nvPr/>
        </p:nvPicPr>
        <p:blipFill>
          <a:blip r:embed="rId3">
            <a:alphaModFix/>
          </a:blip>
          <a:stretch>
            <a:fillRect/>
          </a:stretch>
        </p:blipFill>
        <p:spPr>
          <a:xfrm>
            <a:off x="152400" y="1804749"/>
            <a:ext cx="8839199" cy="2532693"/>
          </a:xfrm>
          <a:prstGeom prst="rect">
            <a:avLst/>
          </a:prstGeom>
          <a:noFill/>
          <a:ln>
            <a:noFill/>
          </a:ln>
        </p:spPr>
      </p:pic>
      <p:sp>
        <p:nvSpPr>
          <p:cNvPr id="783" name="Google Shape;783;p76"/>
          <p:cNvSpPr txBox="1"/>
          <p:nvPr/>
        </p:nvSpPr>
        <p:spPr>
          <a:xfrm>
            <a:off x="8850" y="4824900"/>
            <a:ext cx="2753700" cy="3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Urbanist"/>
                <a:ea typeface="Urbanist"/>
                <a:cs typeface="Urbanist"/>
                <a:sym typeface="Urbanist"/>
              </a:rPr>
              <a:t>Source: est-sfs software documentation</a:t>
            </a:r>
            <a:endParaRPr sz="1100">
              <a:solidFill>
                <a:schemeClr val="lt1"/>
              </a:solidFill>
              <a:latin typeface="Urbanist"/>
              <a:ea typeface="Urbanist"/>
              <a:cs typeface="Urbanist"/>
              <a:sym typeface="Urbanis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77"/>
          <p:cNvSpPr txBox="1"/>
          <p:nvPr>
            <p:ph idx="3" type="title"/>
          </p:nvPr>
        </p:nvSpPr>
        <p:spPr>
          <a:xfrm>
            <a:off x="275850" y="2861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sz="2000"/>
              <a:t>Generating data-file.txt</a:t>
            </a:r>
            <a:endParaRPr sz="2000"/>
          </a:p>
        </p:txBody>
      </p:sp>
      <p:sp>
        <p:nvSpPr>
          <p:cNvPr id="789" name="Google Shape;789;p77"/>
          <p:cNvSpPr txBox="1"/>
          <p:nvPr>
            <p:ph type="title"/>
          </p:nvPr>
        </p:nvSpPr>
        <p:spPr>
          <a:xfrm>
            <a:off x="275850" y="-3966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2600"/>
              <a:t>Step 5: est-sfs software</a:t>
            </a:r>
            <a:endParaRPr sz="2600"/>
          </a:p>
        </p:txBody>
      </p:sp>
      <p:sp>
        <p:nvSpPr>
          <p:cNvPr id="790" name="Google Shape;790;p77"/>
          <p:cNvSpPr/>
          <p:nvPr/>
        </p:nvSpPr>
        <p:spPr>
          <a:xfrm flipH="1" rot="-5400000">
            <a:off x="-275850" y="-26550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id="791" name="Google Shape;791;p77" title="Genomic workflow for cross-species allele counts.png"/>
          <p:cNvPicPr preferRelativeResize="0"/>
          <p:nvPr/>
        </p:nvPicPr>
        <p:blipFill>
          <a:blip r:embed="rId3">
            <a:alphaModFix/>
          </a:blip>
          <a:stretch>
            <a:fillRect/>
          </a:stretch>
        </p:blipFill>
        <p:spPr>
          <a:xfrm>
            <a:off x="1738550" y="676275"/>
            <a:ext cx="5573125" cy="4467224"/>
          </a:xfrm>
          <a:prstGeom prst="rect">
            <a:avLst/>
          </a:prstGeom>
          <a:noFill/>
          <a:ln>
            <a:noFill/>
          </a:ln>
        </p:spPr>
      </p:pic>
      <p:sp>
        <p:nvSpPr>
          <p:cNvPr id="792" name="Google Shape;792;p77"/>
          <p:cNvSpPr txBox="1"/>
          <p:nvPr/>
        </p:nvSpPr>
        <p:spPr>
          <a:xfrm>
            <a:off x="1923500" y="1802675"/>
            <a:ext cx="368100" cy="205800"/>
          </a:xfrm>
          <a:prstGeom prst="rect">
            <a:avLst/>
          </a:prstGeom>
          <a:solidFill>
            <a:srgbClr val="B4A7D6"/>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500">
                <a:solidFill>
                  <a:schemeClr val="dk1"/>
                </a:solidFill>
                <a:latin typeface="Urbanist"/>
                <a:ea typeface="Urbanist"/>
                <a:cs typeface="Urbanist"/>
                <a:sym typeface="Urbanist"/>
              </a:rPr>
              <a:t>Iterate</a:t>
            </a:r>
            <a:endParaRPr sz="500">
              <a:solidFill>
                <a:schemeClr val="dk1"/>
              </a:solidFill>
              <a:latin typeface="Urbanist"/>
              <a:ea typeface="Urbanist"/>
              <a:cs typeface="Urbanist"/>
              <a:sym typeface="Urbanis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8"/>
          <p:cNvSpPr txBox="1"/>
          <p:nvPr>
            <p:ph idx="3"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est-sfs software</a:t>
            </a:r>
            <a:endParaRPr/>
          </a:p>
        </p:txBody>
      </p:sp>
      <p:sp>
        <p:nvSpPr>
          <p:cNvPr id="798" name="Google Shape;798;p78"/>
          <p:cNvSpPr txBox="1"/>
          <p:nvPr>
            <p:ph idx="1" type="body"/>
          </p:nvPr>
        </p:nvSpPr>
        <p:spPr>
          <a:xfrm>
            <a:off x="275850" y="1963175"/>
            <a:ext cx="4290600" cy="2894100"/>
          </a:xfrm>
          <a:prstGeom prst="rect">
            <a:avLst/>
          </a:prstGeom>
        </p:spPr>
        <p:txBody>
          <a:bodyPr anchorCtr="0" anchor="t" bIns="91425" lIns="0" spcFirstLastPara="1" rIns="91425" wrap="square" tIns="91425">
            <a:noAutofit/>
          </a:bodyPr>
          <a:lstStyle/>
          <a:p>
            <a:pPr indent="-361950" lvl="0" marL="457200" rtl="0" algn="l">
              <a:spcBef>
                <a:spcPts val="0"/>
              </a:spcBef>
              <a:spcAft>
                <a:spcPts val="0"/>
              </a:spcAft>
              <a:buSzPts val="2100"/>
              <a:buChar char="-"/>
            </a:pPr>
            <a:r>
              <a:rPr lang="en" sz="2100"/>
              <a:t>Input files:</a:t>
            </a:r>
            <a:endParaRPr sz="2100"/>
          </a:p>
          <a:p>
            <a:pPr indent="-361950" lvl="1" marL="914400" rtl="0" algn="l">
              <a:spcBef>
                <a:spcPts val="0"/>
              </a:spcBef>
              <a:spcAft>
                <a:spcPts val="0"/>
              </a:spcAft>
              <a:buSzPts val="2100"/>
              <a:buChar char="-"/>
            </a:pPr>
            <a:r>
              <a:rPr lang="en" sz="2100"/>
              <a:t>config-file.txt</a:t>
            </a:r>
            <a:endParaRPr sz="2100"/>
          </a:p>
          <a:p>
            <a:pPr indent="-361950" lvl="1" marL="914400" rtl="0" algn="l">
              <a:spcBef>
                <a:spcPts val="0"/>
              </a:spcBef>
              <a:spcAft>
                <a:spcPts val="0"/>
              </a:spcAft>
              <a:buSzPts val="2100"/>
              <a:buChar char="-"/>
            </a:pPr>
            <a:r>
              <a:rPr lang="en" sz="2100"/>
              <a:t>seed-file.txt</a:t>
            </a:r>
            <a:endParaRPr sz="2100"/>
          </a:p>
          <a:p>
            <a:pPr indent="-374650" lvl="1" marL="914400" rtl="0" algn="l">
              <a:spcBef>
                <a:spcPts val="0"/>
              </a:spcBef>
              <a:spcAft>
                <a:spcPts val="0"/>
              </a:spcAft>
              <a:buSzPts val="2300"/>
              <a:buChar char="-"/>
            </a:pPr>
            <a:r>
              <a:rPr b="1" lang="en" sz="2300" u="sng"/>
              <a:t>data-file.txt</a:t>
            </a:r>
            <a:endParaRPr b="1" sz="2300" u="sng"/>
          </a:p>
          <a:p>
            <a:pPr indent="-361950" lvl="0" marL="457200" rtl="0" algn="l">
              <a:spcBef>
                <a:spcPts val="0"/>
              </a:spcBef>
              <a:spcAft>
                <a:spcPts val="0"/>
              </a:spcAft>
              <a:buSzPts val="2100"/>
              <a:buChar char="-"/>
            </a:pPr>
            <a:r>
              <a:rPr lang="en" sz="2100"/>
              <a:t>Output files</a:t>
            </a:r>
            <a:endParaRPr sz="2100"/>
          </a:p>
          <a:p>
            <a:pPr indent="-361950" lvl="1" marL="914400" rtl="0" algn="l">
              <a:spcBef>
                <a:spcPts val="0"/>
              </a:spcBef>
              <a:spcAft>
                <a:spcPts val="0"/>
              </a:spcAft>
              <a:buSzPts val="2100"/>
              <a:buChar char="-"/>
            </a:pPr>
            <a:r>
              <a:rPr lang="en" sz="2100"/>
              <a:t>output-file-sfs.txt</a:t>
            </a:r>
            <a:endParaRPr sz="2100"/>
          </a:p>
          <a:p>
            <a:pPr indent="-361950" lvl="1" marL="914400" rtl="0" algn="l">
              <a:spcBef>
                <a:spcPts val="0"/>
              </a:spcBef>
              <a:spcAft>
                <a:spcPts val="0"/>
              </a:spcAft>
              <a:buSzPts val="2100"/>
              <a:buChar char="-"/>
            </a:pPr>
            <a:r>
              <a:rPr b="1" lang="en" sz="2100" u="sng"/>
              <a:t>output-file-pvalues.txt</a:t>
            </a:r>
            <a:endParaRPr b="1" sz="2100" u="sng"/>
          </a:p>
        </p:txBody>
      </p:sp>
      <p:sp>
        <p:nvSpPr>
          <p:cNvPr id="799" name="Google Shape;799;p78"/>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The Big Kahuna</a:t>
            </a:r>
            <a:endParaRPr/>
          </a:p>
        </p:txBody>
      </p:sp>
      <p:sp>
        <p:nvSpPr>
          <p:cNvPr id="800" name="Google Shape;800;p78"/>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79"/>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806" name="Google Shape;806;p79"/>
          <p:cNvSpPr txBox="1"/>
          <p:nvPr>
            <p:ph idx="5"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Le Results</a:t>
            </a:r>
            <a:endParaRPr/>
          </a:p>
        </p:txBody>
      </p:sp>
      <p:sp>
        <p:nvSpPr>
          <p:cNvPr id="807" name="Google Shape;807;p79"/>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08" name="Google Shape;808;p79" title="Screenshot 2026-04-07 at 13.39.43.png"/>
          <p:cNvPicPr preferRelativeResize="0"/>
          <p:nvPr/>
        </p:nvPicPr>
        <p:blipFill>
          <a:blip r:embed="rId3">
            <a:alphaModFix/>
          </a:blip>
          <a:stretch>
            <a:fillRect/>
          </a:stretch>
        </p:blipFill>
        <p:spPr>
          <a:xfrm>
            <a:off x="152400" y="2115574"/>
            <a:ext cx="8839204" cy="163577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80"/>
          <p:cNvSpPr txBox="1"/>
          <p:nvPr>
            <p:ph type="title"/>
          </p:nvPr>
        </p:nvSpPr>
        <p:spPr>
          <a:xfrm>
            <a:off x="275850" y="375624"/>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814" name="Google Shape;814;p80"/>
          <p:cNvSpPr txBox="1"/>
          <p:nvPr>
            <p:ph idx="5" type="title"/>
          </p:nvPr>
        </p:nvSpPr>
        <p:spPr>
          <a:xfrm>
            <a:off x="275850" y="11492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Le Results</a:t>
            </a:r>
            <a:endParaRPr/>
          </a:p>
        </p:txBody>
      </p:sp>
      <p:sp>
        <p:nvSpPr>
          <p:cNvPr id="815" name="Google Shape;815;p80"/>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16" name="Google Shape;816;p80"/>
          <p:cNvPicPr preferRelativeResize="0"/>
          <p:nvPr/>
        </p:nvPicPr>
        <p:blipFill>
          <a:blip r:embed="rId3">
            <a:alphaModFix/>
          </a:blip>
          <a:stretch>
            <a:fillRect/>
          </a:stretch>
        </p:blipFill>
        <p:spPr>
          <a:xfrm>
            <a:off x="0" y="2351288"/>
            <a:ext cx="9143999" cy="10550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81"/>
          <p:cNvSpPr txBox="1"/>
          <p:nvPr>
            <p:ph type="title"/>
          </p:nvPr>
        </p:nvSpPr>
        <p:spPr>
          <a:xfrm>
            <a:off x="334225" y="-2655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822" name="Google Shape;822;p81"/>
          <p:cNvSpPr txBox="1"/>
          <p:nvPr>
            <p:ph idx="5" type="title"/>
          </p:nvPr>
        </p:nvSpPr>
        <p:spPr>
          <a:xfrm>
            <a:off x="334225" y="47474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Le Results</a:t>
            </a:r>
            <a:endParaRPr/>
          </a:p>
        </p:txBody>
      </p:sp>
      <p:sp>
        <p:nvSpPr>
          <p:cNvPr id="823" name="Google Shape;823;p81"/>
          <p:cNvSpPr/>
          <p:nvPr/>
        </p:nvSpPr>
        <p:spPr>
          <a:xfrm flipH="1" rot="-5400000">
            <a:off x="-267000" y="-26550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24" name="Google Shape;824;p81" title="Screenshot 2026-04-07 at 13.41.09.png"/>
          <p:cNvPicPr preferRelativeResize="0"/>
          <p:nvPr/>
        </p:nvPicPr>
        <p:blipFill>
          <a:blip r:embed="rId3">
            <a:alphaModFix/>
          </a:blip>
          <a:stretch>
            <a:fillRect/>
          </a:stretch>
        </p:blipFill>
        <p:spPr>
          <a:xfrm>
            <a:off x="2355475" y="990700"/>
            <a:ext cx="4959174" cy="3958000"/>
          </a:xfrm>
          <a:prstGeom prst="rect">
            <a:avLst/>
          </a:prstGeom>
          <a:noFill/>
          <a:ln>
            <a:noFill/>
          </a:ln>
        </p:spPr>
      </p:pic>
      <p:pic>
        <p:nvPicPr>
          <p:cNvPr id="825" name="Google Shape;825;p81" title="Screenshot 2026-04-07 at 13.42.41.png"/>
          <p:cNvPicPr preferRelativeResize="0"/>
          <p:nvPr/>
        </p:nvPicPr>
        <p:blipFill>
          <a:blip r:embed="rId4">
            <a:alphaModFix/>
          </a:blip>
          <a:stretch>
            <a:fillRect/>
          </a:stretch>
        </p:blipFill>
        <p:spPr>
          <a:xfrm>
            <a:off x="2355475" y="990700"/>
            <a:ext cx="4959174" cy="39642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82"/>
          <p:cNvSpPr txBox="1"/>
          <p:nvPr>
            <p:ph type="title"/>
          </p:nvPr>
        </p:nvSpPr>
        <p:spPr>
          <a:xfrm>
            <a:off x="275850" y="16649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831" name="Google Shape;831;p82"/>
          <p:cNvSpPr txBox="1"/>
          <p:nvPr>
            <p:ph idx="5" type="title"/>
          </p:nvPr>
        </p:nvSpPr>
        <p:spPr>
          <a:xfrm>
            <a:off x="275850" y="9185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3 Outgroups</a:t>
            </a:r>
            <a:endParaRPr/>
          </a:p>
        </p:txBody>
      </p:sp>
      <p:sp>
        <p:nvSpPr>
          <p:cNvPr id="832" name="Google Shape;832;p82"/>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33" name="Google Shape;833;p82" title="Screenshot 2026-04-07 at 13.46.45.png"/>
          <p:cNvPicPr preferRelativeResize="0"/>
          <p:nvPr/>
        </p:nvPicPr>
        <p:blipFill>
          <a:blip r:embed="rId3">
            <a:alphaModFix/>
          </a:blip>
          <a:stretch>
            <a:fillRect/>
          </a:stretch>
        </p:blipFill>
        <p:spPr>
          <a:xfrm>
            <a:off x="2937725" y="980400"/>
            <a:ext cx="5174319" cy="4124874"/>
          </a:xfrm>
          <a:prstGeom prst="rect">
            <a:avLst/>
          </a:prstGeom>
          <a:noFill/>
          <a:ln>
            <a:noFill/>
          </a:ln>
        </p:spPr>
      </p:pic>
      <p:pic>
        <p:nvPicPr>
          <p:cNvPr id="834" name="Google Shape;834;p82" title="Screenshot 2026-04-07 at 13.45.52.png"/>
          <p:cNvPicPr preferRelativeResize="0"/>
          <p:nvPr/>
        </p:nvPicPr>
        <p:blipFill>
          <a:blip r:embed="rId4">
            <a:alphaModFix/>
          </a:blip>
          <a:stretch>
            <a:fillRect/>
          </a:stretch>
        </p:blipFill>
        <p:spPr>
          <a:xfrm>
            <a:off x="2949863" y="980396"/>
            <a:ext cx="5150044" cy="4124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83"/>
          <p:cNvSpPr txBox="1"/>
          <p:nvPr>
            <p:ph type="title"/>
          </p:nvPr>
        </p:nvSpPr>
        <p:spPr>
          <a:xfrm>
            <a:off x="275850" y="16649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Step 5: est-sfs software</a:t>
            </a:r>
            <a:endParaRPr/>
          </a:p>
        </p:txBody>
      </p:sp>
      <p:sp>
        <p:nvSpPr>
          <p:cNvPr id="840" name="Google Shape;840;p83"/>
          <p:cNvSpPr txBox="1"/>
          <p:nvPr>
            <p:ph idx="5" type="title"/>
          </p:nvPr>
        </p:nvSpPr>
        <p:spPr>
          <a:xfrm>
            <a:off x="275850" y="918574"/>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Comparing Results</a:t>
            </a:r>
            <a:endParaRPr/>
          </a:p>
        </p:txBody>
      </p:sp>
      <p:sp>
        <p:nvSpPr>
          <p:cNvPr id="841" name="Google Shape;841;p83"/>
          <p:cNvSpPr/>
          <p:nvPr/>
        </p:nvSpPr>
        <p:spPr>
          <a:xfrm flipH="1" rot="-5400000">
            <a:off x="0" y="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42" name="Google Shape;842;p83"/>
          <p:cNvPicPr preferRelativeResize="0"/>
          <p:nvPr/>
        </p:nvPicPr>
        <p:blipFill>
          <a:blip r:embed="rId3">
            <a:alphaModFix/>
          </a:blip>
          <a:stretch>
            <a:fillRect/>
          </a:stretch>
        </p:blipFill>
        <p:spPr>
          <a:xfrm>
            <a:off x="0" y="1984525"/>
            <a:ext cx="9058124" cy="1028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84"/>
          <p:cNvSpPr txBox="1"/>
          <p:nvPr>
            <p:ph type="title"/>
          </p:nvPr>
        </p:nvSpPr>
        <p:spPr>
          <a:xfrm>
            <a:off x="334225" y="-265501"/>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Put it all together now!</a:t>
            </a:r>
            <a:endParaRPr/>
          </a:p>
        </p:txBody>
      </p:sp>
      <p:sp>
        <p:nvSpPr>
          <p:cNvPr id="848" name="Google Shape;848;p84"/>
          <p:cNvSpPr/>
          <p:nvPr/>
        </p:nvSpPr>
        <p:spPr>
          <a:xfrm flipH="1" rot="-5400000">
            <a:off x="-267000" y="-265500"/>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pic>
        <p:nvPicPr>
          <p:cNvPr id="849" name="Google Shape;849;p84" title="deleterious-load-boxplots-incl-l.jpg"/>
          <p:cNvPicPr preferRelativeResize="0"/>
          <p:nvPr/>
        </p:nvPicPr>
        <p:blipFill>
          <a:blip r:embed="rId3">
            <a:alphaModFix/>
          </a:blip>
          <a:stretch>
            <a:fillRect/>
          </a:stretch>
        </p:blipFill>
        <p:spPr>
          <a:xfrm>
            <a:off x="0" y="980000"/>
            <a:ext cx="9144003" cy="2455646"/>
          </a:xfrm>
          <a:prstGeom prst="rect">
            <a:avLst/>
          </a:prstGeom>
          <a:noFill/>
          <a:ln>
            <a:noFill/>
          </a:ln>
        </p:spPr>
      </p:pic>
      <p:pic>
        <p:nvPicPr>
          <p:cNvPr id="850" name="Google Shape;850;p84" title="deleterious-load-boxplots-excl-l.jpg"/>
          <p:cNvPicPr preferRelativeResize="0"/>
          <p:nvPr/>
        </p:nvPicPr>
        <p:blipFill>
          <a:blip r:embed="rId4">
            <a:alphaModFix/>
          </a:blip>
          <a:stretch>
            <a:fillRect/>
          </a:stretch>
        </p:blipFill>
        <p:spPr>
          <a:xfrm>
            <a:off x="0" y="980000"/>
            <a:ext cx="9143946" cy="245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85"/>
          <p:cNvSpPr txBox="1"/>
          <p:nvPr>
            <p:ph type="title"/>
          </p:nvPr>
        </p:nvSpPr>
        <p:spPr>
          <a:xfrm>
            <a:off x="0" y="0"/>
            <a:ext cx="5622600" cy="17943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Takeaways</a:t>
            </a:r>
            <a:endParaRPr/>
          </a:p>
        </p:txBody>
      </p:sp>
      <p:sp>
        <p:nvSpPr>
          <p:cNvPr id="856" name="Google Shape;856;p85"/>
          <p:cNvSpPr txBox="1"/>
          <p:nvPr>
            <p:ph idx="1" type="subTitle"/>
          </p:nvPr>
        </p:nvSpPr>
        <p:spPr>
          <a:xfrm>
            <a:off x="0" y="785225"/>
            <a:ext cx="4287300" cy="3786900"/>
          </a:xfrm>
          <a:prstGeom prst="rect">
            <a:avLst/>
          </a:prstGeom>
        </p:spPr>
        <p:txBody>
          <a:bodyPr anchorCtr="0" anchor="t" bIns="91425" lIns="0" spcFirstLastPara="1" rIns="91425" wrap="square" tIns="91425">
            <a:noAutofit/>
          </a:bodyPr>
          <a:lstStyle/>
          <a:p>
            <a:pPr indent="-387350" lvl="0" marL="457200" rtl="0" algn="l">
              <a:spcBef>
                <a:spcPts val="0"/>
              </a:spcBef>
              <a:spcAft>
                <a:spcPts val="0"/>
              </a:spcAft>
              <a:buSzPts val="2500"/>
              <a:buChar char="-"/>
            </a:pPr>
            <a:r>
              <a:rPr b="0" lang="en" sz="2500"/>
              <a:t>Went into this thinking polarization might have a</a:t>
            </a:r>
            <a:r>
              <a:rPr lang="en" sz="2500"/>
              <a:t> big </a:t>
            </a:r>
            <a:r>
              <a:rPr b="0" lang="en" sz="2500"/>
              <a:t>impact on results…it doesn’t</a:t>
            </a:r>
            <a:endParaRPr b="0" sz="2500"/>
          </a:p>
          <a:p>
            <a:pPr indent="0" lvl="0" marL="457200" rtl="0" algn="l">
              <a:spcBef>
                <a:spcPts val="0"/>
              </a:spcBef>
              <a:spcAft>
                <a:spcPts val="0"/>
              </a:spcAft>
              <a:buNone/>
            </a:pPr>
            <a:r>
              <a:t/>
            </a:r>
            <a:endParaRPr b="0" sz="2500"/>
          </a:p>
          <a:p>
            <a:pPr indent="-387350" lvl="0" marL="457200" rtl="0" algn="l">
              <a:spcBef>
                <a:spcPts val="0"/>
              </a:spcBef>
              <a:spcAft>
                <a:spcPts val="0"/>
              </a:spcAft>
              <a:buSzPts val="2500"/>
              <a:buChar char="-"/>
            </a:pPr>
            <a:r>
              <a:rPr b="0" lang="en" sz="2500"/>
              <a:t>Deleterious load consistently higher in domesticated </a:t>
            </a:r>
            <a:r>
              <a:rPr lang="en" sz="2500"/>
              <a:t>regardless of polarization method</a:t>
            </a:r>
            <a:endParaRPr b="0" sz="2500"/>
          </a:p>
        </p:txBody>
      </p:sp>
      <p:pic>
        <p:nvPicPr>
          <p:cNvPr id="857" name="Google Shape;857;p85"/>
          <p:cNvPicPr preferRelativeResize="0"/>
          <p:nvPr/>
        </p:nvPicPr>
        <p:blipFill>
          <a:blip r:embed="rId3">
            <a:alphaModFix/>
          </a:blip>
          <a:stretch>
            <a:fillRect/>
          </a:stretch>
        </p:blipFill>
        <p:spPr>
          <a:xfrm>
            <a:off x="4665825" y="912475"/>
            <a:ext cx="3216600" cy="312653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86"/>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